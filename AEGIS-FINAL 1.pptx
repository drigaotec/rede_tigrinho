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9" r:id="rId22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5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85412E7-0DE8-4A4B-9851-A21F6A361C8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0D6D0"/>
          </a:solidFill>
          <a:ln w="12700">
            <a:solidFill>
              <a:srgbClr val="20D6D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E4C97D6-E319-4BEC-BCC8-58110B1B3FCF}"/>
              </a:ext>
            </a:extLst>
          </p:cNvPr>
          <p:cNvSpPr>
            <a:spLocks noGrp="1"/>
          </p:cNvSpPr>
          <p:nvPr/>
        </p:nvSpPr>
        <p:spPr>
          <a:xfrm>
            <a:off x="502920" y="6473952"/>
            <a:ext cx="109728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800" b="1" spc="200">
                <a:solidFill>
                  <a:srgbClr val="6F879C"/>
                </a:solidFill>
                <a:latin typeface="Aptos"/>
                <a:ea typeface="Aptos"/>
                <a:cs typeface="Aptos"/>
              </a:rPr>
              <a:t>AEGIS</a:t>
            </a:r>
            <a:endParaRPr sz="80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A5FED87-0BDC-4D7F-AE66-B5242A77D4A4}"/>
              </a:ext>
            </a:extLst>
          </p:cNvPr>
          <p:cNvSpPr>
            <a:spLocks noGrp="1"/>
          </p:cNvSpPr>
          <p:nvPr/>
        </p:nvSpPr>
        <p:spPr>
          <a:xfrm>
            <a:off x="7680960" y="6473952"/>
            <a:ext cx="3977640" cy="164592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750">
                <a:solidFill>
                  <a:srgbClr val="6F879C"/>
                </a:solidFill>
              </a:rPr>
              <a:t>INFRAESTRUTURA • SEGURANÇA • OBSERVABILIDADE</a:t>
            </a:r>
            <a:endParaRPr sz="7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11B086E1-C84B-4BAB-82ED-B09AFEA353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6F879C"/>
                </a:solidFill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F86A0DA0-294B-44C9-9517-CCD72765204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6F879C"/>
                </a:solidFill>
              </a:defRPr>
            </a:lvl1pPr>
          </a:lstStyle>
          <a:p>
            <a:pPr algn="l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extract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77190"/>
            <a:ext cx="219456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25196"/>
            <a:ext cx="21945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PROPOSTA TÉCNICA E COMERCIAL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1234440"/>
            <a:ext cx="5364480" cy="7543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5F9FC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2023110"/>
            <a:ext cx="5120640" cy="891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F5F9FC"/>
                </a:solidFill>
                <a:latin typeface="Noto Sans"/>
              </a:rPr>
              <a:t>Infraestrutura segura, conectada e monitorada</a:t>
            </a:r>
          </a:p>
          <a:p>
            <a:pPr algn="l">
              <a:spcAft>
                <a:spcPts val="0"/>
              </a:spcAft>
            </a:pPr>
            <a:r>
              <a:rPr sz="1700" b="1">
                <a:solidFill>
                  <a:srgbClr val="F5F9FC"/>
                </a:solidFill>
                <a:latin typeface="Noto Sans"/>
              </a:rPr>
              <a:t>para consultório odontológico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3188970"/>
            <a:ext cx="475488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6B9C9"/>
                </a:solidFill>
                <a:latin typeface="Noto Sans"/>
              </a:rPr>
              <a:t>Rede • Segurança • Telefonia • Dados • Monitoramento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4526280"/>
            <a:ext cx="4632960" cy="1371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8653" y="4766310"/>
            <a:ext cx="4876800" cy="4847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dirty="0">
                <a:solidFill>
                  <a:srgbClr val="F5F9FC"/>
                </a:solidFill>
                <a:latin typeface="Noto Sans"/>
              </a:rPr>
              <a:t>Equipe </a:t>
            </a:r>
            <a:r>
              <a:rPr sz="1050" b="0" dirty="0" err="1">
                <a:solidFill>
                  <a:srgbClr val="F5F9FC"/>
                </a:solidFill>
                <a:latin typeface="Noto Sans"/>
              </a:rPr>
              <a:t>técnica</a:t>
            </a:r>
            <a:endParaRPr sz="1050" b="0" dirty="0">
              <a:solidFill>
                <a:srgbClr val="F5F9FC"/>
              </a:solidFill>
              <a:latin typeface="Noto Sans"/>
            </a:endParaRPr>
          </a:p>
          <a:p>
            <a:r>
              <a:rPr sz="1050" b="0" dirty="0">
                <a:solidFill>
                  <a:srgbClr val="F5F9FC"/>
                </a:solidFill>
                <a:latin typeface="Noto Sans"/>
              </a:rPr>
              <a:t>Diego • Matheus</a:t>
            </a:r>
            <a:r>
              <a:rPr lang="pt-BR" sz="1050" dirty="0">
                <a:solidFill>
                  <a:srgbClr val="F5F9FC"/>
                </a:solidFill>
                <a:latin typeface="Noto Sans"/>
              </a:rPr>
              <a:t> • Adriano</a:t>
            </a:r>
            <a:endParaRPr lang="pt-BR" sz="1050" b="0" dirty="0">
              <a:solidFill>
                <a:srgbClr val="F5F9FC"/>
              </a:solidFill>
              <a:latin typeface="Noto Sans"/>
            </a:endParaRPr>
          </a:p>
          <a:p>
            <a:pPr algn="l">
              <a:spcAft>
                <a:spcPts val="0"/>
              </a:spcAft>
            </a:pPr>
            <a:endParaRPr sz="1050" b="0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09600" y="6240780"/>
            <a:ext cx="24384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6B9C9"/>
                </a:solidFill>
                <a:latin typeface="Noto Sans"/>
              </a:rPr>
              <a:t>Outubro •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85216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INTRODUÇÃO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O que é o Projeto 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Uma solução integrada para organizar a infraestrutura de TI de um consultório odontológico, com foco em segurança, comunicação, dados e monitoramento.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60" y="1954529"/>
            <a:ext cx="3352800" cy="226314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70560" y="1954529"/>
            <a:ext cx="60960" cy="226314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8784" y="2125980"/>
            <a:ext cx="281635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418FFF"/>
                </a:solidFill>
                <a:latin typeface="Noto Sans"/>
              </a:rPr>
              <a:t>CENÁRIO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8784" y="2407158"/>
            <a:ext cx="281635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9FC"/>
                </a:solidFill>
                <a:latin typeface="Noto Sans"/>
              </a:rPr>
              <a:t>Consultório odontológico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8784" y="2859786"/>
            <a:ext cx="2816352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A6B9C9"/>
                </a:solidFill>
                <a:latin typeface="Noto Sans"/>
              </a:rPr>
              <a:t>A operação depende diariamente de rede, telefonia, arquivos e acesso aos serviços. A proposta é reduzir falhas e centralizar a administração do ambiente.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3504" y="1954529"/>
            <a:ext cx="3352800" cy="226314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13504" y="1954529"/>
            <a:ext cx="60960" cy="2263140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81728" y="2125980"/>
            <a:ext cx="281635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27D5CF"/>
                </a:solidFill>
                <a:latin typeface="Noto Sans"/>
              </a:rPr>
              <a:t>OBJETIVO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407158"/>
            <a:ext cx="281635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9FC"/>
                </a:solidFill>
                <a:latin typeface="Noto Sans"/>
              </a:rPr>
              <a:t>Infraestrutura integrada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859786"/>
            <a:ext cx="2816352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A6B9C9"/>
                </a:solidFill>
                <a:latin typeface="Noto Sans"/>
              </a:rPr>
              <a:t>Conectar segurança de rede, telefonia IP, armazenamento e observabilidade em uma arquitetura única, administrável e preparada para crescimento.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68640" y="1954529"/>
            <a:ext cx="3352800" cy="226314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68640" y="1954529"/>
            <a:ext cx="60960" cy="226314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36864" y="2125980"/>
            <a:ext cx="2816352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80" b="1">
                <a:solidFill>
                  <a:srgbClr val="49CF7E"/>
                </a:solidFill>
                <a:latin typeface="Noto Sans"/>
              </a:rPr>
              <a:t>TECNOLOGIAS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6864" y="2407158"/>
            <a:ext cx="281635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9FC"/>
                </a:solidFill>
                <a:latin typeface="Noto Sans"/>
              </a:rPr>
              <a:t>Serviços principais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6864" y="2859786"/>
            <a:ext cx="2816352" cy="1200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80" b="0">
                <a:solidFill>
                  <a:srgbClr val="A6B9C9"/>
                </a:solidFill>
                <a:latin typeface="Noto Sans"/>
              </a:rPr>
              <a:t>pfSense + Suricata para rede e segurança; Issabel/Asterisk para telefonia; TrueNAS para dados; Prometheus e Grafana para monitoramento.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36320" y="4732020"/>
            <a:ext cx="10119360" cy="994409"/>
          </a:xfrm>
          <a:prstGeom prst="roundRect">
            <a:avLst/>
          </a:prstGeom>
          <a:solidFill>
            <a:srgbClr val="091F32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341120" y="4882896"/>
            <a:ext cx="950976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19" b="1">
                <a:solidFill>
                  <a:srgbClr val="27D5CF"/>
                </a:solidFill>
                <a:latin typeface="Noto Sans"/>
              </a:rPr>
              <a:t>O QUE SERÁ APRESENTADO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1120" y="5198364"/>
            <a:ext cx="95097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30" b="1">
                <a:solidFill>
                  <a:srgbClr val="F5F9FC"/>
                </a:solidFill>
                <a:latin typeface="Noto Sans"/>
              </a:rPr>
              <a:t>Arquitetura  →  Serviços em funcionamento  →  Testes realizados  →  Estrutura física  →  Investimento e entrega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DESAFIO DO CLIENTE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dirty="0">
                <a:solidFill>
                  <a:srgbClr val="F5F9FC"/>
                </a:solidFill>
                <a:latin typeface="Noto Sans"/>
              </a:rPr>
              <a:t>O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que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precisa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funcionar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com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segurança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todos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os</a:t>
            </a:r>
            <a:r>
              <a:rPr sz="250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Noto Sans"/>
              </a:rPr>
              <a:t>dias</a:t>
            </a:r>
            <a:endParaRPr sz="250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A6B9C9"/>
                </a:solidFill>
                <a:latin typeface="Noto Sans"/>
              </a:rPr>
              <a:t>A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infraestrutura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precisa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sustentar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a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operação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clínica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sem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transformar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segurança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e TI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em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gargalos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4529"/>
            <a:ext cx="3474719" cy="219456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54529"/>
            <a:ext cx="60960" cy="2194560"/>
          </a:xfrm>
          <a:prstGeom prst="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64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FF5B77"/>
                </a:solidFill>
                <a:latin typeface="Noto Sans"/>
              </a:rPr>
              <a:t>SEGURANÇA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Proteção de dados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" y="2743200"/>
            <a:ext cx="2938272" cy="130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Reduzir exposição de informações, acessos indevidos e riscos de incidente.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954529"/>
            <a:ext cx="3474719" cy="219456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2544" y="1954529"/>
            <a:ext cx="60960" cy="219456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0768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F7B846"/>
                </a:solidFill>
                <a:latin typeface="Noto Sans"/>
              </a:rPr>
              <a:t>CONTINUIDADE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0768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Disponibilidade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0768" y="2743200"/>
            <a:ext cx="2938272" cy="130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Manter telefonia, arquivos, rede e serviços acessíveis durante a operação.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640" y="1954529"/>
            <a:ext cx="3474719" cy="219456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68640" y="1954529"/>
            <a:ext cx="60960" cy="219456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6864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418FFF"/>
                </a:solidFill>
                <a:latin typeface="Noto Sans"/>
              </a:rPr>
              <a:t>OPERAÇÃO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6864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Gestão e visibilidade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6864" y="2743200"/>
            <a:ext cx="2938272" cy="13030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Saber o que está ativo, o que falhou e onde atuar antes do impacto ao atendimento.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491990"/>
            <a:ext cx="11094720" cy="994409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3440" y="4677156"/>
            <a:ext cx="30480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5CF"/>
                </a:solidFill>
                <a:latin typeface="Noto Sans"/>
              </a:rPr>
              <a:t>PROPOSTA AEGIS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3440" y="4972050"/>
            <a:ext cx="1024128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5F9FC"/>
                </a:solidFill>
                <a:latin typeface="Noto Sans"/>
              </a:rPr>
              <a:t>Integrar rede, segurança, comunicação, dados e monitoramento em uma arquitetura administrável e preparada para crescimento.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003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SOLUÇÃO AEGIS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Uma arquitetura integrada em cinco pilares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Cada camada resolve uma parte do problema; o valor aparece quando todas trabalham como uma única solução.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8819"/>
            <a:ext cx="1889760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88819"/>
            <a:ext cx="60960" cy="205740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64" y="2180844"/>
            <a:ext cx="1499616" cy="30861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50" b="1" dirty="0">
                <a:solidFill>
                  <a:srgbClr val="F5F9FC"/>
                </a:solidFill>
                <a:latin typeface="Noto Sans"/>
              </a:rPr>
              <a:t>Rede &amp; </a:t>
            </a:r>
            <a:r>
              <a:rPr sz="1350" b="1" dirty="0" err="1">
                <a:solidFill>
                  <a:srgbClr val="F5F9FC"/>
                </a:solidFill>
                <a:latin typeface="Noto Sans"/>
              </a:rPr>
              <a:t>endereçamento</a:t>
            </a:r>
            <a:endParaRPr sz="13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16864" y="2774061"/>
            <a:ext cx="1353312" cy="135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dirty="0">
                <a:solidFill>
                  <a:srgbClr val="A6B9C9"/>
                </a:solidFill>
                <a:latin typeface="Noto Sans"/>
              </a:rPr>
              <a:t>Rede,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endereçamento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, DHCP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políticas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de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acesso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65120" y="1988819"/>
            <a:ext cx="1889760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65120" y="1988819"/>
            <a:ext cx="60960" cy="2057400"/>
          </a:xfrm>
          <a:prstGeom prst="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133344" y="2180844"/>
            <a:ext cx="13533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Segurança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33344" y="2592324"/>
            <a:ext cx="1353312" cy="135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pfSense e Suricata para controle de acesso, detecção e prevenção de ameaças.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81600" y="1988819"/>
            <a:ext cx="1889760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181600" y="1988819"/>
            <a:ext cx="60960" cy="205740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49824" y="2180844"/>
            <a:ext cx="13533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Telefonia IP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9824" y="2592324"/>
            <a:ext cx="1353312" cy="135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dirty="0">
                <a:solidFill>
                  <a:srgbClr val="A6B9C9"/>
                </a:solidFill>
                <a:latin typeface="Noto Sans"/>
              </a:rPr>
              <a:t>Issabel/Asterisk com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ramais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internos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comunicação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entre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setores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0" y="1988819"/>
            <a:ext cx="1889760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498080" y="1988819"/>
            <a:ext cx="60960" cy="205740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66304" y="2180844"/>
            <a:ext cx="13533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Dados &amp; continuidade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6304" y="2670796"/>
            <a:ext cx="1353312" cy="135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dirty="0" err="1">
                <a:solidFill>
                  <a:srgbClr val="A6B9C9"/>
                </a:solidFill>
                <a:latin typeface="Noto Sans"/>
              </a:rPr>
              <a:t>TrueNAS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para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compartilhamento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, ZFS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recuperação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14560" y="1988819"/>
            <a:ext cx="1889760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814560" y="1988819"/>
            <a:ext cx="60960" cy="2057400"/>
          </a:xfrm>
          <a:prstGeom prst="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28463" y="2156448"/>
            <a:ext cx="1432017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dirty="0" err="1">
                <a:solidFill>
                  <a:srgbClr val="F5F9FC"/>
                </a:solidFill>
                <a:latin typeface="Noto Sans"/>
              </a:rPr>
              <a:t>Observabilidade</a:t>
            </a:r>
            <a:endParaRPr sz="13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067815" y="2527050"/>
            <a:ext cx="1353312" cy="1351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dirty="0">
                <a:solidFill>
                  <a:srgbClr val="A6B9C9"/>
                </a:solidFill>
                <a:latin typeface="Noto Sans"/>
              </a:rPr>
              <a:t>Prometheus e Grafana para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disponibilidade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,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capacidade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desempenho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950720" y="4491990"/>
            <a:ext cx="207264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2133600" y="459486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18FFF"/>
                </a:solidFill>
                <a:latin typeface="Noto Sans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33600" y="4869180"/>
            <a:ext cx="1706880" cy="260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0">
                <a:solidFill>
                  <a:srgbClr val="A6B9C9"/>
                </a:solidFill>
                <a:latin typeface="Noto Sans"/>
              </a:rPr>
              <a:t>VLANs simuladas</a:t>
            </a:r>
            <a:endParaRPr lang="pt-BR" sz="850" b="0" dirty="0">
              <a:solidFill>
                <a:srgbClr val="A6B9C9"/>
              </a:solidFill>
              <a:latin typeface="Noto Sans"/>
            </a:endParaRPr>
          </a:p>
          <a:p>
            <a:pPr algn="ctr">
              <a:spcAft>
                <a:spcPts val="0"/>
              </a:spcAft>
            </a:pPr>
            <a:r>
              <a:rPr sz="760" b="0">
                <a:solidFill>
                  <a:srgbClr val="A6B9C9"/>
                </a:solidFill>
                <a:latin typeface="Noto Sans"/>
              </a:rPr>
              <a:t>Packet Tracer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328160" y="4491990"/>
            <a:ext cx="207264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511040" y="459486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5CF"/>
                </a:solidFill>
                <a:latin typeface="Noto Sans"/>
              </a:rPr>
              <a:t>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11040" y="4903470"/>
            <a:ext cx="1706880" cy="2880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testes concluídos</a:t>
            </a:r>
            <a:endParaRPr sz="850" b="0" dirty="0">
              <a:solidFill>
                <a:srgbClr val="A6B9C9"/>
              </a:solidFill>
              <a:latin typeface="Noto Sans"/>
            </a:endParaRP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rede • segurança • telefonia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705600" y="4491990"/>
            <a:ext cx="207264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88480" y="459486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7B846"/>
                </a:solidFill>
                <a:latin typeface="Noto Sans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8480" y="4903470"/>
            <a:ext cx="170688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dirty="0" err="1">
                <a:solidFill>
                  <a:srgbClr val="A6B9C9"/>
                </a:solidFill>
                <a:latin typeface="Noto Sans"/>
              </a:rPr>
              <a:t>ramais</a:t>
            </a:r>
            <a:r>
              <a:rPr sz="8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850" b="0" dirty="0" err="1">
                <a:solidFill>
                  <a:srgbClr val="A6B9C9"/>
                </a:solidFill>
                <a:latin typeface="Noto Sans"/>
              </a:rPr>
              <a:t>internos</a:t>
            </a:r>
            <a:endParaRPr sz="850" b="0" dirty="0">
              <a:solidFill>
                <a:srgbClr val="A6B9C9"/>
              </a:solidFill>
              <a:latin typeface="Noto San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9083040" y="4491990"/>
            <a:ext cx="207264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65920" y="4594860"/>
            <a:ext cx="17068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9CF7E"/>
                </a:solidFill>
                <a:latin typeface="Noto Sa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5920" y="4903470"/>
            <a:ext cx="170688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dirty="0" err="1">
                <a:solidFill>
                  <a:srgbClr val="A6B9C9"/>
                </a:solidFill>
                <a:latin typeface="Noto Sans"/>
              </a:rPr>
              <a:t>monitoramento</a:t>
            </a:r>
            <a:r>
              <a:rPr sz="850" b="0" dirty="0">
                <a:solidFill>
                  <a:srgbClr val="A6B9C9"/>
                </a:solidFill>
                <a:latin typeface="Noto Sans"/>
              </a:rPr>
              <a:t> central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PROCESSO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Projetar, configurar, testar e entregar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Arquitetura, configuração e testes organizados em um fluxo único de entrega.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60270"/>
            <a:ext cx="2499360" cy="24345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2480" y="2311146"/>
            <a:ext cx="670560" cy="233172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480" y="2359152"/>
            <a:ext cx="6705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27226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Projeto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3120390"/>
            <a:ext cx="20116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Arquitetura, endereçamento, políticas e escopo.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048000" y="3380994"/>
            <a:ext cx="304800" cy="0"/>
          </a:xfrm>
          <a:prstGeom prst="line">
            <a:avLst/>
          </a:prstGeom>
          <a:ln w="19050">
            <a:solidFill>
              <a:srgbClr val="41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52800" y="2160270"/>
            <a:ext cx="2499360" cy="24345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3596640" y="2311146"/>
            <a:ext cx="67056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96640" y="2359152"/>
            <a:ext cx="6705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6640" y="27226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Configuração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6640" y="3120390"/>
            <a:ext cx="201168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Serviços instalados, integrados e parametrizados.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3380994"/>
            <a:ext cx="304800" cy="0"/>
          </a:xfrm>
          <a:prstGeom prst="line">
            <a:avLst/>
          </a:prstGeom>
          <a:ln w="19050">
            <a:solidFill>
              <a:srgbClr val="27D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156960" y="2160270"/>
            <a:ext cx="2499360" cy="24345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0" y="2311146"/>
            <a:ext cx="670560" cy="233172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2359152"/>
            <a:ext cx="6705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7226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Testes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120390"/>
            <a:ext cx="2011680" cy="8572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Conectividade, segurança, telefonia, dados e monitoramento verificados.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656320" y="3380994"/>
            <a:ext cx="304800" cy="0"/>
          </a:xfrm>
          <a:prstGeom prst="line">
            <a:avLst/>
          </a:prstGeom>
          <a:ln w="19050">
            <a:solidFill>
              <a:srgbClr val="49C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61120" y="2160270"/>
            <a:ext cx="2499360" cy="24345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204960" y="2311146"/>
            <a:ext cx="670560" cy="233172"/>
          </a:xfrm>
          <a:prstGeom prst="round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204960" y="2359152"/>
            <a:ext cx="6705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04960" y="2722626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Entrega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04960" y="3120390"/>
            <a:ext cx="201168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Documentação, treinamento e suporte inicial.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4972050"/>
            <a:ext cx="11094720" cy="51435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92480" y="5122926"/>
            <a:ext cx="10607040" cy="16927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27D5CF"/>
                </a:solidFill>
                <a:latin typeface="Noto Sans"/>
              </a:rPr>
              <a:t>Solução configurada, testada e documentada para apresentação e entrega ao cliente.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852160" cy="1783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7D5CF"/>
                </a:solidFill>
                <a:latin typeface="Noto Sans"/>
              </a:rPr>
              <a:t>ARQUITETURA DE REDE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Simulação segmentada, arquitetura final em rede única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As VLANs são usadas apenas na simulação do Packet Tracer. No VirtualBox e na arquitetura física proposta, o ambiente utiliza uma única rede/VLAN.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4529"/>
            <a:ext cx="5364480" cy="3463290"/>
          </a:xfrm>
          <a:prstGeom prst="roundRect">
            <a:avLst/>
          </a:prstGeom>
          <a:solidFill>
            <a:srgbClr val="0D283F"/>
          </a:solidFill>
          <a:ln w="1524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2480" y="2091690"/>
            <a:ext cx="2011680" cy="233172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480" y="2139696"/>
            <a:ext cx="2011680" cy="123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051423"/>
                </a:solidFill>
                <a:latin typeface="Noto Sans"/>
              </a:rPr>
              <a:t>SIMULAÇÃO LÓGICA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2503170"/>
            <a:ext cx="463296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Packet Tracer — 7 VLANs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480" y="2880360"/>
            <a:ext cx="4632960" cy="377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As VLANs representam os setores e demonstram endereçamento, ACLs e comunicação entre áreas.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480" y="3531870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3614166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418FFF"/>
                </a:solidFill>
                <a:latin typeface="Noto Sans"/>
              </a:rPr>
              <a:t>VLAN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06880" y="3614166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Recepção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69920" y="3531870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291840" y="3614166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418FFF"/>
                </a:solidFill>
                <a:latin typeface="Noto Sans"/>
              </a:rPr>
              <a:t>VLAN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84320" y="3614166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Consultório 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2480" y="3929634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011930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418FFF"/>
                </a:solidFill>
                <a:latin typeface="Noto Sans"/>
              </a:rPr>
              <a:t>VLAN 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6880" y="4011930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Consultório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69920" y="3929634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91840" y="4011930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7B846"/>
                </a:solidFill>
                <a:latin typeface="Noto Sans"/>
              </a:rPr>
              <a:t>VLAN 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84320" y="4011930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DMZ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480" y="4327398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409694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F5B77"/>
                </a:solidFill>
                <a:latin typeface="Noto Sans"/>
              </a:rPr>
              <a:t>VLAN 50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06880" y="4409694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Wi‑Fi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69920" y="4327398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4409694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49CF7E"/>
                </a:solidFill>
                <a:latin typeface="Noto Sans"/>
              </a:rPr>
              <a:t>VLAN 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84320" y="4409694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Impressão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2480" y="4725162"/>
            <a:ext cx="2133600" cy="30861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4807458"/>
            <a:ext cx="7315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976FFF"/>
                </a:solidFill>
                <a:latin typeface="Noto Sans"/>
              </a:rPr>
              <a:t>VLAN 99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06880" y="4807458"/>
            <a:ext cx="10972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70" b="1">
                <a:solidFill>
                  <a:srgbClr val="F5F9FC"/>
                </a:solidFill>
                <a:latin typeface="Noto Sans"/>
              </a:rPr>
              <a:t>Gerência / TI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8880" y="1954529"/>
            <a:ext cx="5364480" cy="3463290"/>
          </a:xfrm>
          <a:prstGeom prst="roundRect">
            <a:avLst/>
          </a:prstGeom>
          <a:solidFill>
            <a:srgbClr val="0D283F"/>
          </a:solidFill>
          <a:ln w="1524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522720" y="2091690"/>
            <a:ext cx="188976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22720" y="2139696"/>
            <a:ext cx="1889760" cy="123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051423"/>
                </a:solidFill>
                <a:latin typeface="Noto Sans"/>
              </a:rPr>
              <a:t>ARQUITETURA FINAL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720" y="2503170"/>
            <a:ext cx="4632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>
                <a:solidFill>
                  <a:srgbClr val="F5F9FC"/>
                </a:solidFill>
                <a:latin typeface="Noto Sans"/>
              </a:rPr>
              <a:t>Uma única rede / VLAN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720" y="2880360"/>
            <a:ext cx="4632960" cy="51435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No VirtualBox e na arquitetura física proposta, equipamentos e VMs utilizam uma única rede, com DHCP e gateway fornecidos pelo pfSense.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644640" y="3669030"/>
            <a:ext cx="2133600" cy="109728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6644640" y="3669030"/>
            <a:ext cx="60960" cy="1097280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912864" y="3819906"/>
            <a:ext cx="1597152" cy="150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>
                <a:solidFill>
                  <a:srgbClr val="27D5CF"/>
                </a:solidFill>
                <a:latin typeface="Noto Sans"/>
              </a:rPr>
              <a:t>REDE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12864" y="3963924"/>
            <a:ext cx="1597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 err="1">
                <a:solidFill>
                  <a:srgbClr val="F5F9FC"/>
                </a:solidFill>
                <a:latin typeface="Noto Sans"/>
              </a:rPr>
              <a:t>pfSense</a:t>
            </a:r>
            <a:endParaRPr sz="13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912864" y="4238244"/>
            <a:ext cx="1597152" cy="2057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>
                <a:solidFill>
                  <a:srgbClr val="A6B9C9"/>
                </a:solidFill>
                <a:latin typeface="Noto Sans"/>
              </a:rPr>
              <a:t>Gateway, DHCP, NAT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controle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de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acesso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à internet.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83040" y="3669030"/>
            <a:ext cx="2133600" cy="109728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083040" y="3669030"/>
            <a:ext cx="60960" cy="109728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351264" y="3819906"/>
            <a:ext cx="1597152" cy="150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750" b="1">
                <a:solidFill>
                  <a:srgbClr val="49CF7E"/>
                </a:solidFill>
                <a:latin typeface="Noto Sans"/>
              </a:rPr>
              <a:t>FÍSICO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351264" y="3973067"/>
            <a:ext cx="159715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1" dirty="0">
                <a:solidFill>
                  <a:srgbClr val="F5F9FC"/>
                </a:solidFill>
                <a:latin typeface="Noto Sans"/>
              </a:rPr>
              <a:t>Switch / LAN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1264" y="4203955"/>
            <a:ext cx="1597152" cy="2057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19" b="0" dirty="0" err="1">
                <a:solidFill>
                  <a:srgbClr val="A6B9C9"/>
                </a:solidFill>
                <a:latin typeface="Noto Sans"/>
              </a:rPr>
              <a:t>Distribuição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para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estações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,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telefones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, AP e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servidor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2720" y="4937760"/>
            <a:ext cx="4693920" cy="329184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705600" y="5026914"/>
            <a:ext cx="4328160" cy="1371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69" b="1">
                <a:solidFill>
                  <a:srgbClr val="27D5CF"/>
                </a:solidFill>
                <a:latin typeface="Noto Sans"/>
              </a:rPr>
              <a:t>A segmentação por VLANs é demonstrada somente no Packet Tracer.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SEGURANÇA EM CAMADAS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Controle, detecção e bloqueio antes do impacto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 arquitetura combina tecnologias complementares em vez de depender de um único mecanismo de proteção.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5360" y="4080510"/>
            <a:ext cx="3108960" cy="113157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75360" y="4080510"/>
            <a:ext cx="60960" cy="1131570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43584" y="4272534"/>
            <a:ext cx="25725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Controlar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43584" y="4684014"/>
            <a:ext cx="2572512" cy="42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Aplicar regras de firewall e permitir apenas os fluxos necessários.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35424" y="4080510"/>
            <a:ext cx="3108960" cy="113157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4535424" y="4080510"/>
            <a:ext cx="60960" cy="1131570"/>
          </a:xfrm>
          <a:prstGeom prst="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03648" y="4272534"/>
            <a:ext cx="25725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Detectar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3648" y="4684014"/>
            <a:ext cx="2572512" cy="42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Detectar padrões suspeitos, assinaturas e eventos relevantes no tráfego.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07680" y="4080510"/>
            <a:ext cx="3108960" cy="113157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107680" y="4080510"/>
            <a:ext cx="60960" cy="113157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375904" y="4272534"/>
            <a:ext cx="257251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Bloquear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4684014"/>
            <a:ext cx="2572512" cy="4251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Bloquear tráfego malicioso com firewall e Suricata em modo IPS.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70560" y="2331720"/>
            <a:ext cx="1767839" cy="102870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16864" y="2503170"/>
            <a:ext cx="147523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F5F9FC"/>
                </a:solidFill>
                <a:latin typeface="Noto Sans"/>
              </a:rPr>
              <a:t>Internet (VIVO)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6864" y="2811780"/>
            <a:ext cx="147523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Link externo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2438400" y="2846070"/>
            <a:ext cx="426720" cy="0"/>
          </a:xfrm>
          <a:prstGeom prst="line">
            <a:avLst/>
          </a:prstGeom>
          <a:ln w="20320">
            <a:solidFill>
              <a:srgbClr val="41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2865120" y="2331720"/>
            <a:ext cx="1767839" cy="102870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3011424" y="2503170"/>
            <a:ext cx="147523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F5F9FC"/>
                </a:solidFill>
                <a:latin typeface="Noto Sans"/>
              </a:rPr>
              <a:t>Cisco C8200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011424" y="2811780"/>
            <a:ext cx="147523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Roteamento de borda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4632960" y="2846070"/>
            <a:ext cx="426720" cy="0"/>
          </a:xfrm>
          <a:prstGeom prst="line">
            <a:avLst/>
          </a:prstGeom>
          <a:ln w="20320">
            <a:solidFill>
              <a:srgbClr val="41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ounded Rectangle 53"/>
          <p:cNvSpPr/>
          <p:nvPr/>
        </p:nvSpPr>
        <p:spPr>
          <a:xfrm>
            <a:off x="5059680" y="2331720"/>
            <a:ext cx="1767839" cy="102870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205984" y="2503170"/>
            <a:ext cx="147523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F5F9FC"/>
                </a:solidFill>
                <a:latin typeface="Noto Sans"/>
              </a:rPr>
              <a:t>pfSense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205984" y="2811780"/>
            <a:ext cx="147523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Firewall / gateway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6827519" y="2846070"/>
            <a:ext cx="426721" cy="0"/>
          </a:xfrm>
          <a:prstGeom prst="line">
            <a:avLst/>
          </a:prstGeom>
          <a:ln w="20320">
            <a:solidFill>
              <a:srgbClr val="27D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7254240" y="2331720"/>
            <a:ext cx="1767839" cy="102870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F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400544" y="2503170"/>
            <a:ext cx="147523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F5F9FC"/>
                </a:solidFill>
                <a:latin typeface="Noto Sans"/>
              </a:rPr>
              <a:t>Suricata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00544" y="2811780"/>
            <a:ext cx="147523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IDS/IPS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9022080" y="2846070"/>
            <a:ext cx="426720" cy="0"/>
          </a:xfrm>
          <a:prstGeom prst="line">
            <a:avLst/>
          </a:prstGeom>
          <a:ln w="20320">
            <a:solidFill>
              <a:srgbClr val="FF5B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448800" y="2331720"/>
            <a:ext cx="1767839" cy="102870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49C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595104" y="2503170"/>
            <a:ext cx="1475232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80" b="1">
                <a:solidFill>
                  <a:srgbClr val="F5F9FC"/>
                </a:solidFill>
                <a:latin typeface="Noto Sans"/>
              </a:rPr>
              <a:t>LAN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595104" y="2811780"/>
            <a:ext cx="1475232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Usuários e serviços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TELEFONIA 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Comunicação interna entre Recepção e Consultórios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 solução utiliza Issabel/Asterisk com três ramais e é demonstrada em três estações Windows 11 com Linphone.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4529"/>
            <a:ext cx="5242560" cy="29215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92480" y="2091690"/>
            <a:ext cx="1463040" cy="233172"/>
          </a:xfrm>
          <a:prstGeom prst="round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92480" y="2139696"/>
            <a:ext cx="1463040" cy="123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TELEFONIA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80" y="2503170"/>
            <a:ext cx="4511040" cy="2400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5F9FC"/>
                </a:solidFill>
                <a:latin typeface="Noto Sans"/>
              </a:rPr>
              <a:t>Issabel/Asterisk + 3 ramais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983230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307924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B846"/>
                </a:solidFill>
                <a:latin typeface="Noto Sans"/>
              </a:rPr>
              <a:t>1000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2640" y="307924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9FC"/>
                </a:solidFill>
                <a:latin typeface="Noto Sans"/>
              </a:rPr>
              <a:t>Recepção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463290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7280" y="355930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B846"/>
                </a:solidFill>
                <a:latin typeface="Noto Sans"/>
              </a:rPr>
              <a:t>1001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72640" y="355930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9FC"/>
                </a:solidFill>
                <a:latin typeface="Noto Sans"/>
              </a:rPr>
              <a:t>Consultório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3943349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03936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B846"/>
                </a:solidFill>
                <a:latin typeface="Noto Sans"/>
              </a:rPr>
              <a:t>1002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2640" y="403936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F9FC"/>
                </a:solidFill>
                <a:latin typeface="Noto Sans"/>
              </a:rPr>
              <a:t>Consultório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491990"/>
            <a:ext cx="414528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Chamadas internas e gestão centralizada dos ramais.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1954529"/>
            <a:ext cx="5242560" cy="29215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644640" y="2091690"/>
            <a:ext cx="170688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44640" y="2139696"/>
            <a:ext cx="1706880" cy="123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DEMONSTRAÇÃO FUNCIONAL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4640" y="2503170"/>
            <a:ext cx="451104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dirty="0">
                <a:solidFill>
                  <a:srgbClr val="F5F9FC"/>
                </a:solidFill>
                <a:latin typeface="Noto Sans"/>
              </a:rPr>
              <a:t>3 </a:t>
            </a:r>
            <a:r>
              <a:rPr lang="pt-BR" sz="1500" b="1" dirty="0">
                <a:solidFill>
                  <a:srgbClr val="F5F9FC"/>
                </a:solidFill>
                <a:latin typeface="Noto Sans"/>
              </a:rPr>
              <a:t>estações</a:t>
            </a:r>
            <a:r>
              <a:rPr sz="1500" b="1" dirty="0">
                <a:solidFill>
                  <a:srgbClr val="F5F9FC"/>
                </a:solidFill>
                <a:latin typeface="Noto Sans"/>
              </a:rPr>
              <a:t> Windows 11 + </a:t>
            </a:r>
            <a:r>
              <a:rPr sz="1500" b="1" dirty="0" err="1">
                <a:solidFill>
                  <a:srgbClr val="F5F9FC"/>
                </a:solidFill>
                <a:latin typeface="Noto Sans"/>
              </a:rPr>
              <a:t>Linphone</a:t>
            </a:r>
            <a:endParaRPr sz="150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766560" y="2983230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949439" y="307924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5CF"/>
                </a:solidFill>
                <a:latin typeface="Noto Sans"/>
              </a:rPr>
              <a:t>1000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24800" y="307924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F5F9FC"/>
                </a:solidFill>
                <a:latin typeface="Noto Sans"/>
              </a:rPr>
              <a:t>Linphone • Recepção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66560" y="3463290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949439" y="355930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5CF"/>
                </a:solidFill>
                <a:latin typeface="Noto Sans"/>
              </a:rPr>
              <a:t>1001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24800" y="355930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F5F9FC"/>
                </a:solidFill>
                <a:latin typeface="Noto Sans"/>
              </a:rPr>
              <a:t>Linphone • Consultório 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766560" y="3943349"/>
            <a:ext cx="4145280" cy="3429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949439" y="4039362"/>
            <a:ext cx="91440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7D5CF"/>
                </a:solidFill>
                <a:latin typeface="Noto Sans"/>
              </a:rPr>
              <a:t>1002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24800" y="4039362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60" b="1">
                <a:solidFill>
                  <a:srgbClr val="F5F9FC"/>
                </a:solidFill>
                <a:latin typeface="Noto Sans"/>
              </a:rPr>
              <a:t>Linphone • Consultório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4491990"/>
            <a:ext cx="414528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Registro, chamadas e mensagens entre os ramais configurados.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DADOS E CONTINUIDADE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TrueNAS para armazenamento centralizado e recuperação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 proposta concentra arquivos autorizados em um ponto controlado e reduz o impacto de falhas de disco.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91690"/>
            <a:ext cx="3474719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091690"/>
            <a:ext cx="60960" cy="205740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64" y="224256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418FFF"/>
                </a:solidFill>
                <a:latin typeface="Noto Sans"/>
              </a:rPr>
              <a:t>ACESSO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" y="246888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Compartilhamento SMB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" y="2880360"/>
            <a:ext cx="2938272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Acesso controlado aos arquivos da clínica a partir das estações autorizadas.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091690"/>
            <a:ext cx="3474719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2544" y="2091690"/>
            <a:ext cx="60960" cy="205740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0768" y="224256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49CF7E"/>
                </a:solidFill>
                <a:latin typeface="Noto Sans"/>
              </a:rPr>
              <a:t>RESILIÊNCIA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0768" y="246888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ZFS e redundância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0768" y="2880360"/>
            <a:ext cx="2938272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Pool com proteção contra falhas e integridade de dados.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640" y="2091690"/>
            <a:ext cx="3474719" cy="20574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68640" y="2091690"/>
            <a:ext cx="60960" cy="205740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6864" y="224256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F7B846"/>
                </a:solidFill>
                <a:latin typeface="Noto Sans"/>
              </a:rPr>
              <a:t>RECUPERAÇÃO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6864" y="246888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Snapshots e recuperação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6864" y="2880360"/>
            <a:ext cx="2938272" cy="1165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Pontos de restauração para reduzir impacto de exclusões e alterações indevidas.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560570"/>
            <a:ext cx="1109472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92480" y="4718304"/>
            <a:ext cx="243840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7D5CF"/>
                </a:solidFill>
                <a:latin typeface="Noto Sans"/>
              </a:rPr>
              <a:t>RESULTADO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704588"/>
            <a:ext cx="8046720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F9FC"/>
                </a:solidFill>
                <a:latin typeface="Noto Sans"/>
              </a:rPr>
              <a:t>Mais controle sobre arquivos, disponibilidade dos dados e estratégia de recuperação.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7680" y="274320"/>
            <a:ext cx="54864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1">
                <a:solidFill>
                  <a:srgbClr val="27D5CF"/>
                </a:solidFill>
                <a:latin typeface="Noto Sans"/>
              </a:rPr>
              <a:t>MONITORAMENTO EXECUTIVO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28948"/>
            <a:ext cx="11094720" cy="36933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5F9FC"/>
                </a:solidFill>
                <a:latin typeface="Noto Sans"/>
              </a:rPr>
              <a:t>Prometheus + Grafana — disponibilidade e desempenho</a:t>
            </a:r>
            <a:endParaRPr sz="240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07136" y="1789938"/>
            <a:ext cx="1280160" cy="1165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>
                <a:solidFill>
                  <a:srgbClr val="051423"/>
                </a:solidFill>
                <a:latin typeface="Noto Sans"/>
              </a:rPr>
              <a:t>PROMETHEUS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4800" y="1039319"/>
            <a:ext cx="11216640" cy="5376789"/>
          </a:xfrm>
          <a:prstGeom prst="roundRect">
            <a:avLst/>
          </a:prstGeom>
          <a:solidFill>
            <a:srgbClr val="0A2236"/>
          </a:solidFill>
          <a:ln w="15240">
            <a:solidFill>
              <a:srgbClr val="49C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09600" y="1183242"/>
            <a:ext cx="1097280" cy="219456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8160" y="1239994"/>
            <a:ext cx="1280160" cy="1046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680" b="1" dirty="0">
                <a:solidFill>
                  <a:srgbClr val="051423"/>
                </a:solidFill>
                <a:latin typeface="Noto Sans"/>
              </a:rPr>
              <a:t>GRAFANA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89760" y="1213032"/>
            <a:ext cx="3474719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80" b="1" dirty="0" err="1">
                <a:solidFill>
                  <a:srgbClr val="F5F9FC"/>
                </a:solidFill>
                <a:latin typeface="Noto Sans"/>
              </a:rPr>
              <a:t>Desempenho</a:t>
            </a:r>
            <a:r>
              <a:rPr sz="1080" b="1" dirty="0">
                <a:solidFill>
                  <a:srgbClr val="F5F9FC"/>
                </a:solidFill>
                <a:latin typeface="Noto Sans"/>
              </a:rPr>
              <a:t> e </a:t>
            </a:r>
            <a:r>
              <a:rPr sz="1080" b="1" dirty="0" err="1">
                <a:solidFill>
                  <a:srgbClr val="F5F9FC"/>
                </a:solidFill>
                <a:latin typeface="Noto Sans"/>
              </a:rPr>
              <a:t>capacidade</a:t>
            </a:r>
            <a:endParaRPr sz="108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768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39DE0C18-D0C3-03A1-D206-14BCA3C19B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701"/>
          <a:stretch>
            <a:fillRect/>
          </a:stretch>
        </p:blipFill>
        <p:spPr>
          <a:xfrm>
            <a:off x="775716" y="1459450"/>
            <a:ext cx="10274808" cy="461216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2316480" y="6083046"/>
            <a:ext cx="755904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680">
                <a:solidFill>
                  <a:srgbClr val="A6B9C9"/>
                </a:solidFill>
                <a:latin typeface="Noto Sans"/>
              </a:rPr>
              <a:t>Prometheus coleta disponibilidade e métricas dos servidores.</a:t>
            </a:r>
          </a:p>
          <a:p>
            <a:pPr algn="ctr">
              <a:spcAft>
                <a:spcPts val="0"/>
              </a:spcAft>
            </a:pPr>
            <a:r>
              <a:rPr sz="680">
                <a:solidFill>
                  <a:srgbClr val="A6B9C9"/>
                </a:solidFill>
                <a:latin typeface="Noto Sans"/>
              </a:rPr>
              <a:t>Grafana exibe CPU, memória, disco e rede em tempo real.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EVIDÊNCIA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Arquitetura lógica e perímetro em funcionamento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 Packet Tracer demonstra a topologia lógica; o pfSense comprova o gateway e o controle da rede do ambiente.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186" y="1885950"/>
            <a:ext cx="6108508" cy="4457700"/>
          </a:xfrm>
          <a:prstGeom prst="roundRect">
            <a:avLst/>
          </a:prstGeom>
          <a:solidFill>
            <a:srgbClr val="0A2236"/>
          </a:solidFill>
          <a:ln w="1651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68096" y="2009394"/>
            <a:ext cx="1280160" cy="233172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8096" y="2057400"/>
            <a:ext cx="1280160" cy="123443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SIMULAÇÃO LÓGICA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756" y="2032254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F5F9FC"/>
                </a:solidFill>
                <a:latin typeface="Noto Sans"/>
              </a:rPr>
              <a:t>Topologia</a:t>
            </a:r>
            <a:r>
              <a:rPr sz="105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1050" b="1" dirty="0" err="1">
                <a:solidFill>
                  <a:srgbClr val="F5F9FC"/>
                </a:solidFill>
                <a:latin typeface="Noto Sans"/>
              </a:rPr>
              <a:t>lógica</a:t>
            </a:r>
            <a:r>
              <a:rPr lang="pt-BR" sz="1050" b="1" dirty="0">
                <a:solidFill>
                  <a:srgbClr val="F5F9FC"/>
                </a:solidFill>
                <a:latin typeface="Noto Sans"/>
              </a:rPr>
              <a:t> (</a:t>
            </a:r>
            <a:r>
              <a:rPr lang="pt-BR" sz="1050" b="1" dirty="0" err="1">
                <a:solidFill>
                  <a:srgbClr val="F5F9FC"/>
                </a:solidFill>
                <a:latin typeface="Noto Sans"/>
              </a:rPr>
              <a:t>packet</a:t>
            </a:r>
            <a:r>
              <a:rPr lang="pt-BR" sz="105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lang="pt-BR" sz="1050" b="1" dirty="0" err="1">
                <a:solidFill>
                  <a:srgbClr val="F5F9FC"/>
                </a:solidFill>
                <a:latin typeface="Noto Sans"/>
              </a:rPr>
              <a:t>tracer</a:t>
            </a:r>
            <a:r>
              <a:rPr lang="pt-BR" sz="1050" b="1" dirty="0">
                <a:solidFill>
                  <a:srgbClr val="F5F9FC"/>
                </a:solidFill>
                <a:latin typeface="Noto Sans"/>
              </a:rPr>
              <a:t>)</a:t>
            </a:r>
            <a:endParaRPr sz="1050" b="1" dirty="0">
              <a:solidFill>
                <a:srgbClr val="F5F9FC"/>
              </a:solidFill>
              <a:latin typeface="Noto Sans"/>
            </a:endParaRPr>
          </a:p>
        </p:txBody>
      </p:sp>
      <p:pic>
        <p:nvPicPr>
          <p:cNvPr id="14" name="Picture 13" descr="image(20261010-21301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84" y="2331719"/>
            <a:ext cx="5785996" cy="36080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2494" y="6117336"/>
            <a:ext cx="5791200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Topologia lógica e VLANs da simulação.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Setores e conexões representados no Packet Tracer.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6950" y="1771650"/>
            <a:ext cx="5409121" cy="3968496"/>
          </a:xfrm>
          <a:prstGeom prst="roundRect">
            <a:avLst/>
          </a:prstGeom>
          <a:solidFill>
            <a:srgbClr val="0A2236"/>
          </a:solidFill>
          <a:ln w="1651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755939" y="2016685"/>
            <a:ext cx="128016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28998" y="2064258"/>
            <a:ext cx="128016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 dirty="0">
                <a:solidFill>
                  <a:srgbClr val="051423"/>
                </a:solidFill>
                <a:latin typeface="Noto Sans"/>
              </a:rPr>
              <a:t>EVIDÊNCIA REAL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5087" y="2050975"/>
            <a:ext cx="2255519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dirty="0" err="1">
                <a:solidFill>
                  <a:srgbClr val="F5F9FC"/>
                </a:solidFill>
                <a:latin typeface="Noto Sans"/>
              </a:rPr>
              <a:t>pfSense</a:t>
            </a:r>
            <a:r>
              <a:rPr sz="1050" b="1" dirty="0">
                <a:solidFill>
                  <a:srgbClr val="F5F9FC"/>
                </a:solidFill>
                <a:latin typeface="Noto Sans"/>
              </a:rPr>
              <a:t> — firewall /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2523" y="5520690"/>
            <a:ext cx="3660647" cy="246887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Gateway da rede com DHCP, NAT e firewall.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Controle central do tráfego do ambiente.</a:t>
            </a:r>
          </a:p>
        </p:txBody>
      </p:sp>
      <p:pic>
        <p:nvPicPr>
          <p:cNvPr id="24" name="Picture 23" descr="pfsense_dashboard_sem_pfblo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346" y="2339346"/>
            <a:ext cx="5133468" cy="304373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EVIDÊNCIA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Detecção e prevenção de ameaças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 Suricata atua como IDS/IPS para detectar eventos suspeitos e bloquear tráfego malicioso.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1954529"/>
            <a:ext cx="10363200" cy="3943349"/>
          </a:xfrm>
          <a:prstGeom prst="roundRect">
            <a:avLst/>
          </a:prstGeom>
          <a:solidFill>
            <a:srgbClr val="0A2236"/>
          </a:solidFill>
          <a:ln w="16510">
            <a:solidFill>
              <a:srgbClr val="FF5B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158240" y="2091690"/>
            <a:ext cx="1463040" cy="233172"/>
          </a:xfrm>
          <a:prstGeom prst="round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58240" y="2139696"/>
            <a:ext cx="146304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40" b="1">
                <a:solidFill>
                  <a:srgbClr val="051423"/>
                </a:solidFill>
                <a:latin typeface="Noto Sans"/>
              </a:rPr>
              <a:t>SURICATA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65120" y="2105406"/>
            <a:ext cx="7437120" cy="2400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>
                <a:solidFill>
                  <a:srgbClr val="F5F9FC"/>
                </a:solidFill>
                <a:latin typeface="Noto Sans"/>
              </a:rPr>
              <a:t>Suricata — IDS/IPS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080" y="2503170"/>
            <a:ext cx="9387840" cy="277749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767839" y="5452110"/>
            <a:ext cx="865632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A6B9C9"/>
                </a:solidFill>
                <a:latin typeface="Noto Sans"/>
              </a:rPr>
              <a:t>IDS/IPS ativo para inspeção do tráfego.</a:t>
            </a:r>
          </a:p>
          <a:p>
            <a:pPr algn="ctr">
              <a:spcAft>
                <a:spcPts val="0"/>
              </a:spcAft>
            </a:pPr>
            <a:r>
              <a:rPr sz="740" b="0">
                <a:solidFill>
                  <a:srgbClr val="A6B9C9"/>
                </a:solidFill>
                <a:latin typeface="Noto Sans"/>
              </a:rPr>
              <a:t>Detecta eventos suspeitos e bloqueia ameaças por regra.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43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EVIDÊNCIA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9FC"/>
                </a:solidFill>
                <a:latin typeface="Noto Sans"/>
              </a:rPr>
              <a:t>Telefonia IP — Issabel / Asterisk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72552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 Issabel/Asterisk centraliza a telefonia, mantém os ramais registrados e permite chamadas internas entre os setores.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584198"/>
            <a:ext cx="6914082" cy="4441698"/>
          </a:xfrm>
          <a:prstGeom prst="roundRect">
            <a:avLst/>
          </a:prstGeom>
          <a:solidFill>
            <a:srgbClr val="0A2236"/>
          </a:solidFill>
          <a:ln w="16510">
            <a:solidFill>
              <a:srgbClr val="976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77241" y="1745455"/>
            <a:ext cx="1341120" cy="233172"/>
          </a:xfrm>
          <a:prstGeom prst="round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1" y="1800319"/>
            <a:ext cx="13411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 dirty="0">
                <a:solidFill>
                  <a:srgbClr val="051423"/>
                </a:solidFill>
                <a:latin typeface="Noto Sans"/>
              </a:rPr>
              <a:t>EVIDÊNCIA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5040" y="1779744"/>
            <a:ext cx="591312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1" dirty="0">
                <a:solidFill>
                  <a:srgbClr val="F5F9FC"/>
                </a:solidFill>
                <a:latin typeface="Noto Sans"/>
              </a:rPr>
              <a:t>Issabel — </a:t>
            </a:r>
            <a:r>
              <a:rPr sz="1050" b="1" dirty="0" err="1">
                <a:solidFill>
                  <a:srgbClr val="F5F9FC"/>
                </a:solidFill>
                <a:latin typeface="Noto Sans"/>
              </a:rPr>
              <a:t>painel</a:t>
            </a:r>
            <a:r>
              <a:rPr sz="1050" b="1" dirty="0">
                <a:solidFill>
                  <a:srgbClr val="F5F9FC"/>
                </a:solidFill>
                <a:latin typeface="Noto Sans"/>
              </a:rPr>
              <a:t> do </a:t>
            </a:r>
            <a:r>
              <a:rPr sz="1050" b="1" dirty="0" err="1">
                <a:solidFill>
                  <a:srgbClr val="F5F9FC"/>
                </a:solidFill>
                <a:latin typeface="Noto Sans"/>
              </a:rPr>
              <a:t>sistema</a:t>
            </a:r>
            <a:endParaRPr sz="10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5788152"/>
            <a:ext cx="548640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PBX ativo e serviços de telefonia disponíveis.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Gerenciamento central dos ramais internos.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69401" y="1402411"/>
            <a:ext cx="4180640" cy="2341222"/>
          </a:xfrm>
          <a:prstGeom prst="roundRect">
            <a:avLst/>
          </a:prstGeom>
          <a:solidFill>
            <a:srgbClr val="0A2236"/>
          </a:solidFill>
          <a:ln w="1524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58100" y="1612665"/>
            <a:ext cx="140208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55051" y="1671996"/>
            <a:ext cx="1402080" cy="11233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30" b="1">
                <a:solidFill>
                  <a:srgbClr val="051423"/>
                </a:solidFill>
                <a:latin typeface="Noto Sans"/>
              </a:rPr>
              <a:t>RAMAIS CONFIGURADOS</a:t>
            </a:r>
            <a:endParaRPr sz="730" b="1" dirty="0">
              <a:solidFill>
                <a:srgbClr val="051423"/>
              </a:solidFill>
              <a:latin typeface="Noto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99599" y="1628869"/>
            <a:ext cx="1975103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F5F9FC"/>
                </a:solidFill>
                <a:latin typeface="Noto Sans"/>
              </a:rPr>
              <a:t>Ramais</a:t>
            </a:r>
            <a:r>
              <a:rPr sz="1150" b="1" dirty="0">
                <a:solidFill>
                  <a:srgbClr val="F5F9FC"/>
                </a:solidFill>
                <a:latin typeface="Noto Sans"/>
              </a:rPr>
              <a:t> PJSIP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6824" y="3429000"/>
            <a:ext cx="3200399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Ramais 1000, 1001 e 1002 registrados.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Recepção • Consultório 1 • Consultório 2.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7688" y="3785832"/>
            <a:ext cx="4198927" cy="2306573"/>
          </a:xfrm>
          <a:prstGeom prst="roundRect">
            <a:avLst/>
          </a:prstGeom>
          <a:solidFill>
            <a:srgbClr val="0A2236"/>
          </a:solidFill>
          <a:ln w="15240">
            <a:solidFill>
              <a:srgbClr val="F7B8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91323" y="3960803"/>
            <a:ext cx="1402080" cy="233172"/>
          </a:xfrm>
          <a:prstGeom prst="round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730" b="1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CHAMADA VALIDADA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29470" y="3981796"/>
            <a:ext cx="1975103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dirty="0" err="1">
                <a:solidFill>
                  <a:srgbClr val="F5F9FC"/>
                </a:solidFill>
                <a:latin typeface="Noto Sans"/>
              </a:rPr>
              <a:t>Chamada</a:t>
            </a:r>
            <a:r>
              <a:rPr sz="1150" b="1" dirty="0">
                <a:solidFill>
                  <a:srgbClr val="F5F9FC"/>
                </a:solidFill>
                <a:latin typeface="Noto Sans"/>
              </a:rPr>
              <a:t> </a:t>
            </a:r>
            <a:r>
              <a:rPr sz="1150" b="1" dirty="0" err="1">
                <a:solidFill>
                  <a:srgbClr val="F5F9FC"/>
                </a:solidFill>
                <a:latin typeface="Noto Sans"/>
              </a:rPr>
              <a:t>ativa</a:t>
            </a:r>
            <a:endParaRPr sz="11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35695" y="5801868"/>
            <a:ext cx="2962655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Chamada entre ramais concluída com sucesso.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Comunicação interna validada pelo Issabel.</a:t>
            </a: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8D99F54A-40AC-88EB-4713-507F4CAB0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012" y="2061973"/>
            <a:ext cx="6295337" cy="366445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37580A05-6BF6-8D05-BCA4-9DFBF67067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488" y="4257167"/>
            <a:ext cx="2773068" cy="1476319"/>
          </a:xfrm>
          <a:prstGeom prst="rect">
            <a:avLst/>
          </a:prstGeom>
        </p:spPr>
      </p:pic>
      <p:pic>
        <p:nvPicPr>
          <p:cNvPr id="41" name="Imagem 40">
            <a:extLst>
              <a:ext uri="{FF2B5EF4-FFF2-40B4-BE49-F238E27FC236}">
                <a16:creationId xmlns:a16="http://schemas.microsoft.com/office/drawing/2014/main" id="{1BF5DE2D-7EB9-5983-5C29-CA57213A3E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5570" y="1961554"/>
            <a:ext cx="3708301" cy="121001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EVIDÊNCIA TÉCNICA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9FC"/>
                </a:solidFill>
                <a:latin typeface="Noto Sans"/>
              </a:rPr>
              <a:t>TrueNAS — armazenamento e continuidade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 TrueNAS centraliza o armazenamento com datasets ZFS e compartilhamentos SMB configurados.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2984" y="1755649"/>
            <a:ext cx="7095744" cy="4041504"/>
          </a:xfrm>
          <a:prstGeom prst="roundRect">
            <a:avLst/>
          </a:prstGeom>
          <a:solidFill>
            <a:srgbClr val="0A2236"/>
          </a:solidFill>
          <a:ln w="1651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99872" y="1908881"/>
            <a:ext cx="1341120" cy="233172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487680" y="1959108"/>
            <a:ext cx="134112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 dirty="0">
                <a:solidFill>
                  <a:srgbClr val="051423"/>
                </a:solidFill>
                <a:latin typeface="Noto Sans"/>
              </a:rPr>
              <a:t>EVIDÊNCIA REAL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18716" y="1933955"/>
            <a:ext cx="5730240" cy="16459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F9FC"/>
                </a:solidFill>
                <a:latin typeface="Noto Sans"/>
              </a:rPr>
              <a:t>TrueNAS — painel do sistema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609844"/>
            <a:ext cx="536448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Painel geral do TrueNAS e recursos do servidor.</a:t>
            </a:r>
          </a:p>
          <a:p>
            <a:pPr algn="ctr">
              <a:spcAft>
                <a:spcPts val="0"/>
              </a:spcAft>
            </a:pPr>
            <a:r>
              <a:rPr sz="700" b="0">
                <a:solidFill>
                  <a:srgbClr val="A6B9C9"/>
                </a:solidFill>
                <a:latin typeface="Noto Sans"/>
              </a:rPr>
              <a:t>CPU, memória e armazenamento visíveis.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8" y="1529333"/>
            <a:ext cx="4126992" cy="2304288"/>
          </a:xfrm>
          <a:prstGeom prst="roundRect">
            <a:avLst/>
          </a:prstGeom>
          <a:solidFill>
            <a:srgbClr val="0A2236"/>
          </a:solidFill>
          <a:ln w="15240">
            <a:solidFill>
              <a:srgbClr val="49C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01712" y="1653923"/>
            <a:ext cx="1402080" cy="233172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01712" y="1704498"/>
            <a:ext cx="1402080" cy="11233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pt-BR" sz="730" b="1" dirty="0">
                <a:solidFill>
                  <a:srgbClr val="051423"/>
                </a:solidFill>
                <a:latin typeface="Noto Sans"/>
              </a:rPr>
              <a:t>ARMAZENAMENTO</a:t>
            </a:r>
            <a:endParaRPr sz="730" b="1" dirty="0">
              <a:solidFill>
                <a:srgbClr val="051423"/>
              </a:solidFill>
              <a:latin typeface="Noto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61832" y="1653923"/>
            <a:ext cx="2036063" cy="2331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5F9FC"/>
                </a:solidFill>
                <a:latin typeface="Noto Sans"/>
              </a:rPr>
              <a:t>Datasets ZFS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600450"/>
            <a:ext cx="231648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670" b="0">
                <a:solidFill>
                  <a:srgbClr val="A6B9C9"/>
                </a:solidFill>
                <a:latin typeface="Noto Sans"/>
              </a:rPr>
              <a:t>Datasets configurados e capacidade disponível.</a:t>
            </a:r>
          </a:p>
          <a:p>
            <a:pPr algn="ctr">
              <a:spcAft>
                <a:spcPts val="0"/>
              </a:spcAft>
            </a:pPr>
            <a:r>
              <a:rPr sz="670" b="0">
                <a:solidFill>
                  <a:srgbClr val="A6B9C9"/>
                </a:solidFill>
                <a:latin typeface="Noto Sans"/>
              </a:rPr>
              <a:t>Estrutura de armazenamento organizada no ZFS.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16368" y="3884196"/>
            <a:ext cx="4126992" cy="2180843"/>
          </a:xfrm>
          <a:prstGeom prst="roundRect">
            <a:avLst>
              <a:gd name="adj" fmla="val 15098"/>
            </a:avLst>
          </a:prstGeom>
          <a:solidFill>
            <a:srgbClr val="0A2236"/>
          </a:solidFill>
          <a:ln w="1524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601712" y="4090797"/>
            <a:ext cx="140208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596150" y="4143378"/>
            <a:ext cx="1402080" cy="2246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 rtl="0"/>
            <a:r>
              <a:rPr lang="pt-BR" sz="73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COMPARTILHAMENTO</a:t>
            </a:r>
          </a:p>
          <a:p>
            <a:pPr algn="ctr"/>
            <a:endParaRPr sz="730" b="1" dirty="0">
              <a:solidFill>
                <a:srgbClr val="051423"/>
              </a:solidFill>
              <a:latin typeface="Noto Sans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597187" y="4115535"/>
            <a:ext cx="2036063" cy="2331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150" b="1" dirty="0">
                <a:solidFill>
                  <a:srgbClr val="F5F9FC"/>
                </a:solidFill>
                <a:latin typeface="Noto Sans"/>
              </a:rPr>
              <a:t>SMB / Shares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5760720"/>
            <a:ext cx="2316480" cy="26060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670" b="0">
                <a:solidFill>
                  <a:srgbClr val="A6B9C9"/>
                </a:solidFill>
                <a:latin typeface="Noto Sans"/>
              </a:rPr>
              <a:t>Compartilhamentos SMB ativos e publicados.</a:t>
            </a:r>
          </a:p>
          <a:p>
            <a:pPr algn="ctr">
              <a:spcAft>
                <a:spcPts val="0"/>
              </a:spcAft>
            </a:pPr>
            <a:r>
              <a:rPr sz="670" b="0">
                <a:solidFill>
                  <a:srgbClr val="A6B9C9"/>
                </a:solidFill>
                <a:latin typeface="Noto Sans"/>
              </a:rPr>
              <a:t>Acesso pelas estações autorizadas.</a:t>
            </a: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52C39884-3BB7-CD79-A940-12F6F05A06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66" y="2180765"/>
            <a:ext cx="6568897" cy="3343322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7EB1575E-9E2C-CA3C-3EAC-FDF0C866A1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9688"/>
          <a:stretch>
            <a:fillRect/>
          </a:stretch>
        </p:blipFill>
        <p:spPr>
          <a:xfrm>
            <a:off x="7648955" y="4358173"/>
            <a:ext cx="3811525" cy="1344248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B419AE3E-92D2-00F7-BC0D-466C2D19BC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3739"/>
          <a:stretch>
            <a:fillRect/>
          </a:stretch>
        </p:blipFill>
        <p:spPr>
          <a:xfrm>
            <a:off x="7648956" y="1933955"/>
            <a:ext cx="3811524" cy="1634214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RESULTADOS DOS 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13 testes técnicos concluídos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17697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Os testes comprovam conectividade, bloqueios previstos e telefonia; o monitoramento é demonstrado no Prometheus/Grafana.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88819"/>
            <a:ext cx="256032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091690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27D5CF"/>
                </a:solidFill>
                <a:latin typeface="Noto Sans"/>
              </a:rPr>
              <a:t>13 /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00300"/>
            <a:ext cx="2194560" cy="260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testes concluídos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sem falhas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6640" y="1988819"/>
            <a:ext cx="231648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79520" y="2091690"/>
            <a:ext cx="195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49CF7E"/>
                </a:solidFill>
                <a:latin typeface="Noto Sans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9520" y="2400300"/>
            <a:ext cx="1950720" cy="260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fluxos autorizados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comunicação prevista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988819"/>
            <a:ext cx="231648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2091690"/>
            <a:ext cx="195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5B77"/>
                </a:solidFill>
                <a:latin typeface="Noto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00300"/>
            <a:ext cx="1950720" cy="260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bloqueios validados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acessos não permitidos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9200" y="1988819"/>
            <a:ext cx="231648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22080" y="2091690"/>
            <a:ext cx="1950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7B846"/>
                </a:solidFill>
                <a:latin typeface="Noto San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22080" y="2400300"/>
            <a:ext cx="1950720" cy="26060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chamadas concluídas</a:t>
            </a:r>
          </a:p>
          <a:p>
            <a:pPr algn="ctr">
              <a:spcAft>
                <a:spcPts val="0"/>
              </a:spcAft>
            </a:pPr>
            <a:r>
              <a:rPr sz="720" b="0">
                <a:solidFill>
                  <a:srgbClr val="A6B9C9"/>
                </a:solidFill>
                <a:latin typeface="Noto Sans"/>
              </a:rPr>
              <a:t>1000 • 1001 • 1002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257550"/>
            <a:ext cx="10424160" cy="178308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36320" y="3463290"/>
            <a:ext cx="975360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F9FC"/>
                </a:solidFill>
                <a:latin typeface="Noto Sans"/>
              </a:rPr>
              <a:t>O que foi comprovado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806190"/>
            <a:ext cx="926592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•  Fluxos previstos liberados entre gateways, servidores e serviços.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101084"/>
            <a:ext cx="926592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•  Acessos não autorizados bloqueados conforme as regras do Packet Tracer.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395978"/>
            <a:ext cx="926592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•  Ramais 1000, 1001 e 1002 realizando chamadas internas.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4690872"/>
            <a:ext cx="926592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6B9C9"/>
                </a:solidFill>
                <a:latin typeface="Noto Sans"/>
              </a:rPr>
              <a:t>•  Prometheus/Grafana exibindo disponibilidade e desempenho dos serviços.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194560" y="5417820"/>
            <a:ext cx="7802880" cy="37719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38400" y="5534406"/>
            <a:ext cx="7315200" cy="1508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7D5CF"/>
                </a:solidFill>
                <a:latin typeface="Noto Sans"/>
              </a:rPr>
              <a:t>Resultado: serviços configurados, testes concluídos e evidências prontas para apresentação.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ARQUITETURA FÍSICA DA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500" b="1">
                <a:solidFill>
                  <a:srgbClr val="F5F9FC"/>
                </a:solidFill>
                <a:latin typeface="Noto Sans"/>
              </a:rPr>
              <a:t>Arquitetura física dimensionada para a clínica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 arquitetura física utiliza uma única rede/VLAN. O Dell PowerEdge consolida as VMs e o pfSense atua como gateway antes do switch de acesso.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463040" cy="994409"/>
          </a:xfrm>
          <a:prstGeom prst="roundRect">
            <a:avLst/>
          </a:prstGeom>
          <a:solidFill>
            <a:srgbClr val="0D283F"/>
          </a:solidFill>
          <a:ln w="1397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0560" y="2537460"/>
            <a:ext cx="1219200" cy="1615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 dirty="0">
                <a:solidFill>
                  <a:srgbClr val="F5F9FC"/>
                </a:solidFill>
                <a:latin typeface="Noto Sans"/>
              </a:rPr>
              <a:t>INTERNET</a:t>
            </a:r>
            <a:r>
              <a:rPr lang="pt-BR" sz="1050" b="1" dirty="0">
                <a:solidFill>
                  <a:srgbClr val="F5F9FC"/>
                </a:solidFill>
                <a:latin typeface="Noto Sans"/>
              </a:rPr>
              <a:t> (VIVO)</a:t>
            </a:r>
            <a:endParaRPr sz="105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0560" y="2880360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30" b="0">
                <a:solidFill>
                  <a:srgbClr val="A6B9C9"/>
                </a:solidFill>
                <a:latin typeface="Noto Sans"/>
              </a:rPr>
              <a:t>Link da clínica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99360" y="2194560"/>
            <a:ext cx="1889760" cy="1268730"/>
          </a:xfrm>
          <a:prstGeom prst="roundRect">
            <a:avLst/>
          </a:prstGeom>
          <a:solidFill>
            <a:srgbClr val="0D283F"/>
          </a:solidFill>
          <a:ln w="13970">
            <a:solidFill>
              <a:srgbClr val="418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57856" y="2414016"/>
            <a:ext cx="1572768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50" b="1">
                <a:solidFill>
                  <a:srgbClr val="F5F9FC"/>
                </a:solidFill>
                <a:latin typeface="Noto Sans"/>
              </a:rPr>
              <a:t>CISCO C8200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7856" y="2777490"/>
            <a:ext cx="1572768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Roteamento
de borda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98720" y="1851660"/>
            <a:ext cx="3901440" cy="2194560"/>
          </a:xfrm>
          <a:prstGeom prst="roundRect">
            <a:avLst/>
          </a:prstGeom>
          <a:solidFill>
            <a:srgbClr val="0D283F"/>
          </a:solidFill>
          <a:ln w="16510">
            <a:solidFill>
              <a:srgbClr val="49C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242560" y="2002535"/>
            <a:ext cx="1767839" cy="233172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42560" y="2050542"/>
            <a:ext cx="1767839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730" b="1">
                <a:solidFill>
                  <a:srgbClr val="051423"/>
                </a:solidFill>
                <a:latin typeface="Noto Sans"/>
              </a:rPr>
              <a:t>SERVIDOR FÍSICO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42560" y="2366010"/>
            <a:ext cx="3413760" cy="2057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Noto Sans"/>
              </a:rPr>
              <a:t>Dell PowerEdge T360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25440" y="2811780"/>
            <a:ext cx="3048000" cy="51435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608320" y="2928366"/>
            <a:ext cx="2682240" cy="137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50" b="1">
                <a:solidFill>
                  <a:srgbClr val="27D5CF"/>
                </a:solidFill>
                <a:latin typeface="Noto Sans"/>
              </a:rPr>
              <a:t>pfSense VM • gateway WAN/LAN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25440" y="3463290"/>
            <a:ext cx="3048000" cy="37719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83936" y="3573018"/>
            <a:ext cx="2731008" cy="12344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40" b="0">
                <a:solidFill>
                  <a:srgbClr val="F5F9FC"/>
                </a:solidFill>
                <a:latin typeface="Noto Sans"/>
              </a:rPr>
              <a:t>TrueNAS • Issabel • Prometheus/Grafana • Suricata IDS/IPS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09760" y="2194560"/>
            <a:ext cx="2133600" cy="1268730"/>
          </a:xfrm>
          <a:prstGeom prst="roundRect">
            <a:avLst/>
          </a:prstGeom>
          <a:solidFill>
            <a:srgbClr val="0D283F"/>
          </a:solidFill>
          <a:ln w="1397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92640" y="2414016"/>
            <a:ext cx="1767839" cy="192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19" b="1">
                <a:solidFill>
                  <a:srgbClr val="F5F9FC"/>
                </a:solidFill>
                <a:latin typeface="Noto Sans"/>
              </a:rPr>
              <a:t>CATALYST 9200L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0" y="2777490"/>
            <a:ext cx="1767839" cy="2880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50" b="0">
                <a:solidFill>
                  <a:srgbClr val="A6B9C9"/>
                </a:solidFill>
                <a:latin typeface="Noto Sans"/>
              </a:rPr>
              <a:t>Switch PoE+
24 portas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011680" y="2825496"/>
            <a:ext cx="487680" cy="0"/>
          </a:xfrm>
          <a:prstGeom prst="line">
            <a:avLst/>
          </a:prstGeom>
          <a:ln w="22860">
            <a:solidFill>
              <a:srgbClr val="41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389120" y="2825496"/>
            <a:ext cx="609600" cy="0"/>
          </a:xfrm>
          <a:prstGeom prst="line">
            <a:avLst/>
          </a:prstGeom>
          <a:ln w="22860">
            <a:solidFill>
              <a:srgbClr val="27D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900160" y="2825496"/>
            <a:ext cx="609600" cy="0"/>
          </a:xfrm>
          <a:prstGeom prst="line">
            <a:avLst/>
          </a:prstGeom>
          <a:ln w="22860">
            <a:solidFill>
              <a:srgbClr val="27D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341120" y="4629150"/>
            <a:ext cx="950976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0" y="4766310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860" b="1">
                <a:solidFill>
                  <a:srgbClr val="F7B846"/>
                </a:solidFill>
                <a:latin typeface="Noto Sans"/>
              </a:rPr>
              <a:t>PONTOS DE USO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752594"/>
            <a:ext cx="68275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60" b="0">
                <a:solidFill>
                  <a:srgbClr val="F5F9FC"/>
                </a:solidFill>
                <a:latin typeface="Noto Sans"/>
              </a:rPr>
              <a:t>3 desktops • 3 telefones IP • 1 notebook • 1 access point • impressão corporativa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41120" y="5520690"/>
            <a:ext cx="9509760" cy="41148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45920" y="5644134"/>
            <a:ext cx="8900160" cy="1508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0">
                <a:solidFill>
                  <a:srgbClr val="A6B9C9"/>
                </a:solidFill>
                <a:latin typeface="Noto Sans"/>
              </a:rPr>
              <a:t>Rack 7U • nobreak online 3000VA • patch panel • PDU • cabeamento Cat6.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41120" y="6069330"/>
            <a:ext cx="9509760" cy="288036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84960" y="6151626"/>
            <a:ext cx="9022080" cy="123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840" b="1">
                <a:solidFill>
                  <a:srgbClr val="27D5CF"/>
                </a:solidFill>
                <a:latin typeface="Noto Sans"/>
              </a:rPr>
              <a:t>REDE FÍSICA: VLAN ÚNICA / LAN ÚNICA • DHCP E GATEWAY NO PFSENSE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ESCOPO DA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Equipamentos, licenças e infraestrutura da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Quantidades consolidadas a partir do orçamento preliminar do Projeto AEGIS.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5452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1954529"/>
            <a:ext cx="60960" cy="168021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64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49CF7E"/>
                </a:solidFill>
                <a:latin typeface="Noto Sans"/>
              </a:rPr>
              <a:t>HARDWARE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Computação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" y="2743200"/>
            <a:ext cx="2938272" cy="78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1 Servidor Dell PowerEdge T360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3 Desktops Lenovo corporativos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1 Notebook Lenovo corporativo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195452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2544" y="1954529"/>
            <a:ext cx="60960" cy="168021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20768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418FFF"/>
                </a:solidFill>
                <a:latin typeface="Noto Sans"/>
              </a:rPr>
              <a:t>CONECTIVIDADE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20768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Rede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0768" y="2743200"/>
            <a:ext cx="2938272" cy="78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1 Cisco Catalyst C8200-1N-4T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1 Catalyst 9200L 24 portas PoE+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1 Access Point corporativo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8640" y="195452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68640" y="1954529"/>
            <a:ext cx="60960" cy="168021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36864" y="210540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F7B846"/>
                </a:solidFill>
                <a:latin typeface="Noto Sans"/>
              </a:rPr>
              <a:t>COMUNICAÇÃO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6864" y="233172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Telefonia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6864" y="2743200"/>
            <a:ext cx="2938272" cy="7886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3 Telefones IP VoIP corporativos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Ramais: 1000 • 1001 • 1002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87476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48640" y="3874769"/>
            <a:ext cx="60960" cy="1680210"/>
          </a:xfrm>
          <a:prstGeom prst="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6864" y="402564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976FFF"/>
                </a:solidFill>
                <a:latin typeface="Noto Sans"/>
              </a:rPr>
              <a:t>SOFTWARE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6864" y="425196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Licenças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864" y="4663440"/>
            <a:ext cx="2938272" cy="788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4 × Windows 11 Pro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4 × Office Home &amp; Business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52544" y="387476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52544" y="3874769"/>
            <a:ext cx="60960" cy="1680210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20768" y="402564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27D5CF"/>
                </a:solidFill>
                <a:latin typeface="Noto Sans"/>
              </a:rPr>
              <a:t>INSTALAÇÃO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20768" y="425196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Infraestrutura física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0768" y="4663440"/>
            <a:ext cx="2938272" cy="7886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Rack 7U • patch panel • PDU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27 m Cat6 • patch cords • RJ45</a:t>
            </a:r>
          </a:p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Bandeja para rack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68640" y="3874769"/>
            <a:ext cx="3474719" cy="168021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68640" y="3874769"/>
            <a:ext cx="60960" cy="1680210"/>
          </a:xfrm>
          <a:prstGeom prst="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36864" y="4025646"/>
            <a:ext cx="2938272" cy="1508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60" b="1">
                <a:solidFill>
                  <a:srgbClr val="FF5B77"/>
                </a:solidFill>
                <a:latin typeface="Noto Sans"/>
              </a:rPr>
              <a:t>CONTINUIDADE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6864" y="4251960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Energia e impressão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36864" y="4663440"/>
            <a:ext cx="2938272" cy="3136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 dirty="0">
                <a:solidFill>
                  <a:srgbClr val="A6B9C9"/>
                </a:solidFill>
                <a:latin typeface="Noto Sans"/>
              </a:rPr>
              <a:t>1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Nobreak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online 3000VA</a:t>
            </a:r>
          </a:p>
          <a:p>
            <a:pPr algn="l">
              <a:spcAft>
                <a:spcPts val="0"/>
              </a:spcAft>
            </a:pPr>
            <a:r>
              <a:rPr sz="1019" b="0" dirty="0" err="1">
                <a:solidFill>
                  <a:srgbClr val="A6B9C9"/>
                </a:solidFill>
                <a:latin typeface="Noto Sans"/>
              </a:rPr>
              <a:t>Impressão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corporativa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via</a:t>
            </a:r>
            <a:r>
              <a:rPr lang="pt-BR" sz="1019" b="0" dirty="0">
                <a:solidFill>
                  <a:srgbClr val="A6B9C9"/>
                </a:solidFill>
                <a:latin typeface="Noto Sans"/>
              </a:rPr>
              <a:t> parceria com a</a:t>
            </a:r>
            <a:r>
              <a:rPr sz="1019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019" b="0" dirty="0" err="1">
                <a:solidFill>
                  <a:srgbClr val="A6B9C9"/>
                </a:solidFill>
                <a:latin typeface="Noto Sans"/>
              </a:rPr>
              <a:t>Helyo</a:t>
            </a:r>
            <a:endParaRPr sz="1019" b="0" dirty="0">
              <a:solidFill>
                <a:srgbClr val="A6B9C9"/>
              </a:solidFill>
              <a:latin typeface="Noto San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48640" y="5795010"/>
            <a:ext cx="110947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A6B9C9"/>
                </a:solidFill>
                <a:latin typeface="Noto Sans"/>
              </a:rPr>
              <a:t>* Parceria de impressão tratada separadamente e fora do total do orçamento apresentado.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RESULTADOS PARA A CLÍNICA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Benefícios da solução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A solução integra segurança, continuidade, comunicação e monitoramento em uma única arquitetura.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057400"/>
            <a:ext cx="60960" cy="1405890"/>
          </a:xfrm>
          <a:prstGeom prst="rect">
            <a:avLst/>
          </a:prstGeom>
          <a:solidFill>
            <a:srgbClr val="FF5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6864" y="2249424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Segurança em camadas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6864" y="266090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Menos exposição e políticas centralizadas.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4736" y="2057400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364736" y="2057400"/>
            <a:ext cx="60960" cy="1405890"/>
          </a:xfrm>
          <a:prstGeom prst="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2960" y="2249424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Continuidade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2960" y="266090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Rede, dados e serviços com mecanismos de recuperação.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0832" y="2057400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180832" y="2057400"/>
            <a:ext cx="60960" cy="1405890"/>
          </a:xfrm>
          <a:prstGeom prst="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49056" y="2249424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Comunicação interna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266090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Ramais organizados entre Recepção e Consultórios.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37609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48640" y="3737609"/>
            <a:ext cx="60960" cy="1405890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6864" y="3929633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Visibilidade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64" y="434111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Monitoramento de disponibilidade e capacidade.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4736" y="3737609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64736" y="3737609"/>
            <a:ext cx="60960" cy="1405890"/>
          </a:xfrm>
          <a:prstGeom prst="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632960" y="3929633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Detecção de ameaças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2960" y="434111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Suricata identifica e bloqueia tráfego suspeito conforme as regras configuradas.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0832" y="3737609"/>
            <a:ext cx="3474719" cy="140589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80832" y="3737609"/>
            <a:ext cx="60960" cy="1405890"/>
          </a:xfrm>
          <a:prstGeom prst="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49056" y="3929633"/>
            <a:ext cx="2938272" cy="308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F5F9FC"/>
                </a:solidFill>
                <a:latin typeface="Noto Sans"/>
              </a:rPr>
              <a:t>Escalabilidade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6" y="4341114"/>
            <a:ext cx="2938272" cy="6995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A6B9C9"/>
                </a:solidFill>
                <a:latin typeface="Noto Sans"/>
              </a:rPr>
              <a:t>Base preparada para novos serviços e estações.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463040" y="5657850"/>
            <a:ext cx="9265920" cy="41148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706880" y="5788152"/>
            <a:ext cx="877824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F5F9FC"/>
                </a:solidFill>
                <a:latin typeface="Noto Sans"/>
              </a:rPr>
              <a:t>Resultado: infraestrutura mais previsível, controlada e preparada para sustentar a operação.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4003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INVESTIMENTO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Estimativa para implantação e suporte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dirty="0">
                <a:solidFill>
                  <a:srgbClr val="A6B9C9"/>
                </a:solidFill>
                <a:latin typeface="Noto Sans"/>
              </a:rPr>
              <a:t>Valores de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referência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de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setembro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de 2026;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devem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ser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atualizados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comercialmente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 antes da </a:t>
            </a:r>
            <a:r>
              <a:rPr sz="1150" b="0" dirty="0" err="1">
                <a:solidFill>
                  <a:srgbClr val="A6B9C9"/>
                </a:solidFill>
                <a:latin typeface="Noto Sans"/>
              </a:rPr>
              <a:t>contratação</a:t>
            </a:r>
            <a:r>
              <a:rPr sz="1150" b="0" dirty="0">
                <a:solidFill>
                  <a:srgbClr val="A6B9C9"/>
                </a:solidFill>
                <a:latin typeface="Noto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88819"/>
            <a:ext cx="3779520" cy="1714500"/>
          </a:xfrm>
          <a:prstGeom prst="roundRect">
            <a:avLst/>
          </a:prstGeom>
          <a:solidFill>
            <a:srgbClr val="0D283F"/>
          </a:solidFill>
          <a:ln w="1524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3440" y="2194560"/>
            <a:ext cx="31699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27D5CF"/>
                </a:solidFill>
                <a:latin typeface="Noto Sans"/>
              </a:rPr>
              <a:t>TOTAL ESTIMADO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40" y="2571750"/>
            <a:ext cx="316992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R$ 119.821,50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3120390"/>
            <a:ext cx="31699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0">
                <a:solidFill>
                  <a:srgbClr val="A6B9C9"/>
                </a:solidFill>
                <a:latin typeface="Noto Sans"/>
              </a:rPr>
              <a:t>incluindo 6 meses de suporte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2023110"/>
            <a:ext cx="19507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F5F9FC"/>
                </a:solidFill>
                <a:latin typeface="Noto Sans"/>
              </a:rPr>
              <a:t>Equipamentos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88479" y="2036826"/>
            <a:ext cx="3169920" cy="123443"/>
          </a:xfrm>
          <a:prstGeom prst="roundRect">
            <a:avLst/>
          </a:prstGeom>
          <a:solidFill>
            <a:srgbClr val="0A2236"/>
          </a:solidFill>
          <a:ln w="635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888479" y="2036826"/>
            <a:ext cx="3169920" cy="123443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302240" y="2023110"/>
            <a:ext cx="13411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R$ 80.221,50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640330"/>
            <a:ext cx="19507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F5F9FC"/>
                </a:solidFill>
                <a:latin typeface="Noto Sans"/>
              </a:rPr>
              <a:t>Licenças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88479" y="2654046"/>
            <a:ext cx="3169920" cy="123443"/>
          </a:xfrm>
          <a:prstGeom prst="roundRect">
            <a:avLst/>
          </a:prstGeom>
          <a:solidFill>
            <a:srgbClr val="0A2236"/>
          </a:solidFill>
          <a:ln w="635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888479" y="2654046"/>
            <a:ext cx="458928" cy="123443"/>
          </a:xfrm>
          <a:prstGeom prst="round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302240" y="2640330"/>
            <a:ext cx="13411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R$ 11.600,00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3257550"/>
            <a:ext cx="19507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F5F9FC"/>
                </a:solidFill>
                <a:latin typeface="Noto Sans"/>
              </a:rPr>
              <a:t>Materiais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88479" y="3271266"/>
            <a:ext cx="3169920" cy="123443"/>
          </a:xfrm>
          <a:prstGeom prst="roundRect">
            <a:avLst/>
          </a:prstGeom>
          <a:solidFill>
            <a:srgbClr val="0A2236"/>
          </a:solidFill>
          <a:ln w="635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888479" y="3271266"/>
            <a:ext cx="236561" cy="123443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302240" y="3257550"/>
            <a:ext cx="13411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R$ 6.000,00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37760" y="3874769"/>
            <a:ext cx="19507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 dirty="0" err="1">
                <a:solidFill>
                  <a:srgbClr val="F5F9FC"/>
                </a:solidFill>
                <a:latin typeface="Noto Sans"/>
              </a:rPr>
              <a:t>Implantação</a:t>
            </a:r>
            <a:endParaRPr sz="94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88479" y="3888485"/>
            <a:ext cx="3169920" cy="123443"/>
          </a:xfrm>
          <a:prstGeom prst="roundRect">
            <a:avLst/>
          </a:prstGeom>
          <a:solidFill>
            <a:srgbClr val="0A2236"/>
          </a:solidFill>
          <a:ln w="635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888479" y="3888485"/>
            <a:ext cx="392691" cy="123443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302240" y="3874769"/>
            <a:ext cx="13411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R$ 10.000,00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88479" y="4505706"/>
            <a:ext cx="3169920" cy="123443"/>
          </a:xfrm>
          <a:prstGeom prst="roundRect">
            <a:avLst/>
          </a:prstGeom>
          <a:solidFill>
            <a:srgbClr val="0A2236"/>
          </a:solidFill>
          <a:ln w="635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888479" y="4505706"/>
            <a:ext cx="473122" cy="123443"/>
          </a:xfrm>
          <a:prstGeom prst="round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302240" y="4491990"/>
            <a:ext cx="134112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R$ 12.000,00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97280" y="5150358"/>
            <a:ext cx="341376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0160" y="5220722"/>
            <a:ext cx="3048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49CF7E"/>
                </a:solidFill>
                <a:latin typeface="Noto Sans"/>
              </a:rPr>
              <a:t>R$ 107.821,50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8240" y="5551688"/>
            <a:ext cx="3048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dirty="0" err="1">
                <a:solidFill>
                  <a:srgbClr val="A6B9C9"/>
                </a:solidFill>
                <a:latin typeface="Noto Sans"/>
              </a:rPr>
              <a:t>implantação</a:t>
            </a:r>
            <a:r>
              <a:rPr sz="8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850" b="0" dirty="0" err="1">
                <a:solidFill>
                  <a:srgbClr val="A6B9C9"/>
                </a:solidFill>
                <a:latin typeface="Noto Sans"/>
              </a:rPr>
              <a:t>inicial</a:t>
            </a:r>
            <a:endParaRPr sz="850" b="0" dirty="0">
              <a:solidFill>
                <a:srgbClr val="A6B9C9"/>
              </a:solidFill>
              <a:latin typeface="Noto San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4855464" y="5150358"/>
            <a:ext cx="268224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45121" y="5234438"/>
            <a:ext cx="2316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F7B846"/>
                </a:solidFill>
                <a:latin typeface="Noto Sans"/>
              </a:rPr>
              <a:t>R$ 12.000,00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0" y="5553972"/>
            <a:ext cx="2316480" cy="2616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dirty="0" err="1">
                <a:solidFill>
                  <a:srgbClr val="A6B9C9"/>
                </a:solidFill>
                <a:latin typeface="Noto Sans"/>
              </a:rPr>
              <a:t>suporte</a:t>
            </a:r>
            <a:r>
              <a:rPr sz="850" b="0" dirty="0">
                <a:solidFill>
                  <a:srgbClr val="A6B9C9"/>
                </a:solidFill>
                <a:latin typeface="Noto Sans"/>
              </a:rPr>
              <a:t> • 6 meses</a:t>
            </a:r>
            <a:r>
              <a:rPr lang="pt-BR" sz="850" b="0" dirty="0">
                <a:solidFill>
                  <a:srgbClr val="A6B9C9"/>
                </a:solidFill>
                <a:latin typeface="Noto Sans"/>
              </a:rPr>
              <a:t> (podendo ser renovado, valor a combinar)  </a:t>
            </a:r>
            <a:endParaRPr sz="850" b="0" dirty="0">
              <a:solidFill>
                <a:srgbClr val="A6B9C9"/>
              </a:solidFill>
              <a:latin typeface="Noto Sans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7903464" y="5144211"/>
            <a:ext cx="2926080" cy="68580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86344" y="5238004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 dirty="0">
                <a:solidFill>
                  <a:srgbClr val="27D5CF"/>
                </a:solidFill>
                <a:latin typeface="Noto Sans"/>
              </a:rPr>
              <a:t>3–5 </a:t>
            </a:r>
            <a:r>
              <a:rPr sz="2000" b="1" dirty="0" err="1">
                <a:solidFill>
                  <a:srgbClr val="27D5CF"/>
                </a:solidFill>
                <a:latin typeface="Noto Sans"/>
              </a:rPr>
              <a:t>dias</a:t>
            </a:r>
            <a:endParaRPr sz="2000" b="1" dirty="0">
              <a:solidFill>
                <a:srgbClr val="27D5CF"/>
              </a:solidFill>
              <a:latin typeface="Noto Sans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086344" y="5630625"/>
            <a:ext cx="256032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 dirty="0" err="1">
                <a:solidFill>
                  <a:srgbClr val="A6B9C9"/>
                </a:solidFill>
                <a:latin typeface="Noto Sans"/>
              </a:rPr>
              <a:t>instalação</a:t>
            </a:r>
            <a:r>
              <a:rPr sz="85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850" b="0" dirty="0" err="1">
                <a:solidFill>
                  <a:srgbClr val="A6B9C9"/>
                </a:solidFill>
                <a:latin typeface="Noto Sans"/>
              </a:rPr>
              <a:t>física</a:t>
            </a:r>
            <a:endParaRPr sz="850" b="0" dirty="0">
              <a:solidFill>
                <a:srgbClr val="A6B9C9"/>
              </a:solidFill>
              <a:latin typeface="Noto San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70560" y="6467094"/>
            <a:ext cx="1048512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60" b="0" dirty="0">
                <a:solidFill>
                  <a:srgbClr val="A6B9C9"/>
                </a:solidFill>
                <a:latin typeface="Noto Sans"/>
              </a:rPr>
              <a:t>*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Após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disponibilidade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 dos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equipamentos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.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Impressão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 via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Helyo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 </a:t>
            </a:r>
            <a:r>
              <a:rPr sz="860" b="0" dirty="0" err="1">
                <a:solidFill>
                  <a:srgbClr val="A6B9C9"/>
                </a:solidFill>
                <a:latin typeface="Noto Sans"/>
              </a:rPr>
              <a:t>não</a:t>
            </a:r>
            <a:r>
              <a:rPr sz="860" b="0" dirty="0">
                <a:solidFill>
                  <a:srgbClr val="A6B9C9"/>
                </a:solidFill>
                <a:latin typeface="Noto Sans"/>
              </a:rPr>
              <a:t> integra o total.</a:t>
            </a:r>
          </a:p>
        </p:txBody>
      </p:sp>
      <p:sp>
        <p:nvSpPr>
          <p:cNvPr id="45" name="TextBox 25">
            <a:extLst>
              <a:ext uri="{FF2B5EF4-FFF2-40B4-BE49-F238E27FC236}">
                <a16:creationId xmlns:a16="http://schemas.microsoft.com/office/drawing/2014/main" id="{001B6679-EDA3-BD59-801C-A5C46EE04BB7}"/>
              </a:ext>
            </a:extLst>
          </p:cNvPr>
          <p:cNvSpPr txBox="1"/>
          <p:nvPr/>
        </p:nvSpPr>
        <p:spPr>
          <a:xfrm>
            <a:off x="4937759" y="4510782"/>
            <a:ext cx="1950720" cy="1446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pt-BR" sz="940" b="1" dirty="0">
                <a:solidFill>
                  <a:srgbClr val="F5F9FC"/>
                </a:solidFill>
                <a:latin typeface="Noto Sans"/>
              </a:rPr>
              <a:t>Suporte inicial</a:t>
            </a:r>
            <a:endParaRPr sz="940" b="1" dirty="0">
              <a:solidFill>
                <a:srgbClr val="F5F9FC"/>
              </a:solidFill>
              <a:latin typeface="Noto San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5730240" cy="1783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27D5CF"/>
                </a:solidFill>
                <a:latin typeface="Noto Sans"/>
              </a:rPr>
              <a:t>PLANO DE 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2356"/>
            <a:ext cx="10972800" cy="5074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5F9FC"/>
                </a:solidFill>
                <a:latin typeface="Noto Sans"/>
              </a:rPr>
              <a:t>Implantação e entrega completa em até 8 semanas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17854"/>
            <a:ext cx="10972800" cy="3771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6B9C9"/>
                </a:solidFill>
                <a:latin typeface="Noto Sans"/>
              </a:rPr>
              <a:t>O prazo completo inclui preparação, configuração, validação, documentação, treinamento e estabilização.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549390"/>
            <a:ext cx="121920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50" b="1">
                <a:solidFill>
                  <a:srgbClr val="A6B9C9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0" y="6549390"/>
            <a:ext cx="292608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580" b="0">
                <a:solidFill>
                  <a:srgbClr val="A6B9C9"/>
                </a:solidFill>
                <a:latin typeface="Noto Sans"/>
              </a:rPr>
              <a:t>INFRAESTRUTURA • SEGURANÇA • CONTINUIDADE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468880"/>
            <a:ext cx="487680" cy="233172"/>
          </a:xfrm>
          <a:prstGeom prst="roundRect">
            <a:avLst/>
          </a:prstGeom>
          <a:solidFill>
            <a:srgbClr val="418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Kickoff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Escopo e levantamento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194560" y="3120390"/>
            <a:ext cx="219456" cy="0"/>
          </a:xfrm>
          <a:prstGeom prst="line">
            <a:avLst/>
          </a:prstGeom>
          <a:ln w="16510">
            <a:solidFill>
              <a:srgbClr val="418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414016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596896" y="2468880"/>
            <a:ext cx="48768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596896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Preparação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96896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Compras e planejamento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059936" y="3120390"/>
            <a:ext cx="219456" cy="0"/>
          </a:xfrm>
          <a:prstGeom prst="line">
            <a:avLst/>
          </a:prstGeom>
          <a:ln w="16510">
            <a:solidFill>
              <a:srgbClr val="27D5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4279392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462272" y="2468880"/>
            <a:ext cx="487680" cy="233172"/>
          </a:xfrm>
          <a:prstGeom prst="roundRect">
            <a:avLst/>
          </a:prstGeom>
          <a:solidFill>
            <a:srgbClr val="49C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Infraestrutura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Rack, rede e energia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25312" y="3120390"/>
            <a:ext cx="219456" cy="0"/>
          </a:xfrm>
          <a:prstGeom prst="line">
            <a:avLst/>
          </a:prstGeom>
          <a:ln w="16510">
            <a:solidFill>
              <a:srgbClr val="49CF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144768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327648" y="2468880"/>
            <a:ext cx="487680" cy="233172"/>
          </a:xfrm>
          <a:prstGeom prst="roundRect">
            <a:avLst/>
          </a:prstGeom>
          <a:solidFill>
            <a:srgbClr val="976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27648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27648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Configuração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27648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Serviços e políticas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90688" y="3120390"/>
            <a:ext cx="219456" cy="0"/>
          </a:xfrm>
          <a:prstGeom prst="line">
            <a:avLst/>
          </a:prstGeom>
          <a:ln w="16510">
            <a:solidFill>
              <a:srgbClr val="976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010144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193024" y="2468880"/>
            <a:ext cx="487680" cy="233172"/>
          </a:xfrm>
          <a:prstGeom prst="roundRect">
            <a:avLst/>
          </a:prstGeom>
          <a:solidFill>
            <a:srgbClr val="F7B8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93024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4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Testes finais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4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Validação e ajustes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56064" y="3120390"/>
            <a:ext cx="219456" cy="0"/>
          </a:xfrm>
          <a:prstGeom prst="line">
            <a:avLst/>
          </a:prstGeom>
          <a:ln w="16510">
            <a:solidFill>
              <a:srgbClr val="F7B8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875520" y="2331720"/>
            <a:ext cx="1645920" cy="1714500"/>
          </a:xfrm>
          <a:prstGeom prst="roundRect">
            <a:avLst/>
          </a:prstGeom>
          <a:solidFill>
            <a:srgbClr val="0D283F"/>
          </a:solidFill>
          <a:ln w="1270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0058400" y="2468880"/>
            <a:ext cx="487680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0058400" y="2516886"/>
            <a:ext cx="487680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0" y="2880360"/>
            <a:ext cx="1280160" cy="2057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80" b="1">
                <a:solidFill>
                  <a:srgbClr val="F5F9FC"/>
                </a:solidFill>
                <a:latin typeface="Noto Sans"/>
              </a:rPr>
              <a:t>Entrega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3257550"/>
            <a:ext cx="1280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40" b="0">
                <a:solidFill>
                  <a:srgbClr val="A6B9C9"/>
                </a:solidFill>
                <a:latin typeface="Noto Sans"/>
              </a:rPr>
              <a:t>Treinamento e documentação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02080" y="4526280"/>
            <a:ext cx="9387840" cy="754380"/>
          </a:xfrm>
          <a:prstGeom prst="roundRect">
            <a:avLst/>
          </a:prstGeom>
          <a:solidFill>
            <a:srgbClr val="0A2236"/>
          </a:solidFill>
          <a:ln w="10160">
            <a:solidFill>
              <a:srgbClr val="1E47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706880" y="4663440"/>
            <a:ext cx="219456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7D5CF"/>
                </a:solidFill>
                <a:latin typeface="Noto Sans"/>
              </a:rPr>
              <a:t>PRAZO FÍSICO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01440" y="4649724"/>
            <a:ext cx="652272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5F9FC"/>
                </a:solidFill>
                <a:latin typeface="Noto Sans"/>
              </a:rPr>
              <a:t>3–5 dias úteis para instalação e configuração física após a disponibilidade dos equipamentos.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02080" y="5520690"/>
            <a:ext cx="9387840" cy="1714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A6B9C9"/>
                </a:solidFill>
                <a:latin typeface="Noto Sans"/>
              </a:rPr>
              <a:t>As 8 semanas representam o ciclo completo de fornecimento, instalação, testes e entrega.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>
                <a:solidFill>
                  <a:srgbClr val="A6B9C9"/>
                </a:solidFill>
                <a:latin typeface="Not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ver_extract_1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071359" cy="6858000"/>
          </a:xfrm>
          <a:prstGeom prst="rect">
            <a:avLst/>
          </a:prstGeom>
          <a:solidFill>
            <a:srgbClr val="0514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48006"/>
          </a:xfrm>
          <a:prstGeom prst="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70560" y="480060"/>
            <a:ext cx="1767839" cy="233172"/>
          </a:xfrm>
          <a:prstGeom prst="roundRect">
            <a:avLst/>
          </a:prstGeom>
          <a:solidFill>
            <a:srgbClr val="27D5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70560" y="528066"/>
            <a:ext cx="1767839" cy="123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40" b="1">
                <a:solidFill>
                  <a:srgbClr val="051423"/>
                </a:solidFill>
                <a:latin typeface="Noto Sans"/>
              </a:rPr>
              <a:t>PROPOSTA DE VALOR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" y="1303020"/>
            <a:ext cx="5730240" cy="720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F5F9FC"/>
                </a:solidFill>
                <a:latin typeface="Noto Sans"/>
              </a:rPr>
              <a:t>AEGIS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60" y="2057400"/>
            <a:ext cx="573024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F5F9FC"/>
                </a:solidFill>
                <a:latin typeface="Noto Sans"/>
              </a:rPr>
              <a:t>Uma base segura para sustentar</a:t>
            </a:r>
          </a:p>
          <a:p>
            <a:pPr algn="l">
              <a:spcAft>
                <a:spcPts val="0"/>
              </a:spcAft>
            </a:pPr>
            <a:r>
              <a:rPr sz="1800" b="1">
                <a:solidFill>
                  <a:srgbClr val="F5F9FC"/>
                </a:solidFill>
                <a:latin typeface="Noto Sans"/>
              </a:rPr>
              <a:t>a operação da clínica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60" y="3188970"/>
            <a:ext cx="52425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6B9C9"/>
                </a:solidFill>
                <a:latin typeface="Noto Sans"/>
              </a:rPr>
              <a:t>Segurança em camadas • Continuidade • Comunicação • Visibilidade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60" y="4251960"/>
            <a:ext cx="5242560" cy="754380"/>
          </a:xfrm>
          <a:prstGeom prst="roundRect">
            <a:avLst/>
          </a:prstGeom>
          <a:solidFill>
            <a:srgbClr val="0A2236"/>
          </a:solidFill>
          <a:ln w="12700">
            <a:solidFill>
              <a:srgbClr val="27D5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475488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27D5CF"/>
                </a:solidFill>
                <a:latin typeface="Noto Sans"/>
              </a:rPr>
              <a:t>PRÓXIMO PASSO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663440"/>
            <a:ext cx="4754880" cy="2400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5F9FC"/>
                </a:solidFill>
                <a:latin typeface="Noto Sans"/>
              </a:rPr>
              <a:t>Aprovar o escopo e definir a janela de implantação.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" y="5795010"/>
            <a:ext cx="426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30" b="0">
                <a:solidFill>
                  <a:srgbClr val="A6B9C9"/>
                </a:solidFill>
                <a:latin typeface="Noto Sans"/>
              </a:rPr>
              <a:t>Perguntas • Escopo • Investimento • Implantação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643360" y="6549390"/>
            <a:ext cx="243840" cy="10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650" b="0" dirty="0">
                <a:solidFill>
                  <a:srgbClr val="A6B9C9"/>
                </a:solidFill>
                <a:latin typeface="Noto Sans"/>
              </a:rPr>
              <a:t>2</a:t>
            </a:r>
            <a:r>
              <a:rPr lang="pt-BR" sz="650" b="0" dirty="0">
                <a:solidFill>
                  <a:srgbClr val="A6B9C9"/>
                </a:solidFill>
                <a:latin typeface="Noto Sans"/>
              </a:rPr>
              <a:t>1</a:t>
            </a:r>
            <a:endParaRPr sz="650" b="0" dirty="0">
              <a:solidFill>
                <a:srgbClr val="A6B9C9"/>
              </a:solidFill>
              <a:latin typeface="Noto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2018</Words>
  <Application>Microsoft Office PowerPoint</Application>
  <DocSecurity>0</DocSecurity>
  <PresentationFormat>Widescreen</PresentationFormat>
  <Paragraphs>413</Paragraphs>
  <Slides>21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5" baseType="lpstr">
      <vt:lpstr>Aptos</vt:lpstr>
      <vt:lpstr>Arial</vt:lpstr>
      <vt:lpstr>Noto Sans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MATHEUS RODRIGO DA SILVA RAMOS</cp:lastModifiedBy>
  <cp:revision>11</cp:revision>
  <dcterms:created xsi:type="dcterms:W3CDTF">2026-10-08T22:24:59Z</dcterms:created>
  <dcterms:modified xsi:type="dcterms:W3CDTF">2026-10-16T21:54:03Z</dcterms:modified>
</cp:coreProperties>
</file>